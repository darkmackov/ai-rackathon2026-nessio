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71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0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Úvod" id="{8A962F37-F09E-5D60-54EB-D753C9A84468}">
          <p14:sldIdLst>
            <p14:sldId id="256"/>
            <p14:sldId id="271"/>
            <p14:sldId id="268"/>
            <p14:sldId id="258"/>
          </p14:sldIdLst>
        </p14:section>
        <p14:section name="Výzva" id="{6E5CBE90-24B9-9FC3-F42D-53FD47B2E40F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Podklady" id="{866C63A1-CC62-F606-CFD0-30C79B7423D7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78"/>
    <p:restoredTop sz="90043"/>
  </p:normalViewPr>
  <p:slideViewPr>
    <p:cSldViewPr snapToGrid="0" snapToObjects="1">
      <p:cViewPr varScale="1">
        <p:scale>
          <a:sx n="108" d="100"/>
          <a:sy n="108" d="100"/>
        </p:scale>
        <p:origin x="8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9683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Komplexní onkologická centra poskytují specializovanou péči, rozhodují o nejlepším způsobu léčby v MDT a disponují cílenou terapií. V jejich péči je cca 65 % všech nemocných, což naráží na personální i prostorové kapacity KOC.
MZČR podpořilo delegaci péče do regionů zavedením funkce koordinátora a VZP úhradou centrové léčby v ROC.
Koordinátoři suplují svou prací chybějící elektronizaci a také nedostatečnou komunikaci mezi KOC a ROC.
Protože informační systémy zdravotnických zařízení jsou odlišné a málo kompatibilní, nabízí se možnost podpořit delegaci péče ze strany KOC také tvorbou komunikačního uzlu ve VZP.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Koordinátor K1 nejen propojuje segmenty péče o pacienta, ale zejména hlídá čas do léčby. Úlohou koordinátora je převzít co nejrychleji dokumentaci od PL nebo specialisty, dokončit diagnostiku nemoci pod vedením lékaře KOC, posunout případ do MDT a následně k léčbě. Zároveň informuje a naviguje pacienta a odesílajícího lékaře. V případě, že pacient může další léčbu podstoupit mimo KOC, zajišťuje koordinátor předání pacienta do ROC.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SA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13232"/>
            <a:ext cx="11094415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2"/>
                </a:solidFill>
              </a:rPr>
              <a:t>Rakathon 2026  ·  Cesta pacienta bez ztráty informací</a:t>
            </a:r>
            <a:endParaRPr lang="en-US" sz="900" dirty="0"/>
          </a:p>
        </p:txBody>
      </p:sp>
      <p:pic>
        <p:nvPicPr>
          <p:cNvPr id="4" name="Image 0" descr="un/ppt/media/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28" y="6391656"/>
            <a:ext cx="566928" cy="23774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4747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4747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hyperlink" Target="mailto:koordinace-hpb@ftn.cz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VZP" descr="un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960120" cy="40233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3774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RAKATHON 2026  ·  VÝZVA</a:t>
            </a:r>
            <a:endParaRPr lang="en-US" sz="1400" dirty="0"/>
          </a:p>
        </p:txBody>
      </p:sp>
      <p:sp>
        <p:nvSpPr>
          <p:cNvPr id="4" name="Název"/>
          <p:cNvSpPr txBox="1"/>
          <p:nvPr/>
        </p:nvSpPr>
        <p:spPr>
          <a:xfrm>
            <a:off x="548640" y="27889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chemeClr val="tx1"/>
                </a:solidFill>
              </a:rPr>
              <a:t>Cesta pacienta bez ztráty informací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Software pro koordinaci onkologické péče mezi </a:t>
            </a:r>
            <a:r>
              <a:rPr lang="en-US" sz="2000" dirty="0" err="1">
                <a:solidFill>
                  <a:schemeClr val="tx2"/>
                </a:solidFill>
              </a:rPr>
              <a:t>referujícím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lékařem</a:t>
            </a:r>
            <a:r>
              <a:rPr lang="en-US" sz="2000" dirty="0">
                <a:solidFill>
                  <a:schemeClr val="tx2"/>
                </a:solidFill>
              </a:rPr>
              <a:t> a KOC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715000"/>
            <a:ext cx="77165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chemeClr val="tx2"/>
                </a:solidFill>
              </a:rPr>
              <a:t>Zpracoval:  Zuzana </a:t>
            </a:r>
            <a:r>
              <a:rPr lang="en-US" sz="1200" dirty="0" err="1">
                <a:solidFill>
                  <a:schemeClr val="tx2"/>
                </a:solidFill>
              </a:rPr>
              <a:t>Bielčiková</a:t>
            </a:r>
            <a:r>
              <a:rPr lang="en-US" sz="1200" dirty="0">
                <a:solidFill>
                  <a:schemeClr val="tx2"/>
                </a:solidFill>
              </a:rPr>
              <a:t>, Marian Rybář , Klára Vaňková, Tereza </a:t>
            </a:r>
            <a:r>
              <a:rPr lang="en-US" sz="1200" dirty="0" err="1">
                <a:solidFill>
                  <a:schemeClr val="tx2"/>
                </a:solidFill>
              </a:rPr>
              <a:t>Chrástová</a:t>
            </a:r>
            <a:r>
              <a:rPr lang="en-US" sz="1200" dirty="0">
                <a:solidFill>
                  <a:schemeClr val="tx2"/>
                </a:solidFill>
              </a:rPr>
              <a:t>,, Michaela Tůmová, Michaela Klimeš </a:t>
            </a:r>
            <a:r>
              <a:rPr lang="en-US" sz="1200" dirty="0" err="1">
                <a:solidFill>
                  <a:schemeClr val="tx2"/>
                </a:solidFill>
              </a:rPr>
              <a:t>Lipánová</a:t>
            </a:r>
            <a:r>
              <a:rPr lang="en-US" sz="1200" dirty="0">
                <a:solidFill>
                  <a:schemeClr val="tx2"/>
                </a:solidFill>
              </a:rPr>
              <a:t> 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kce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1"/>
                </a:solidFill>
              </a:rPr>
              <a:t>ÚVOD DO PROBLEMATIKY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13232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Organizace onkologické péče </a:t>
            </a:r>
            <a:r>
              <a:rPr lang="en-US" sz="3000" b="1" dirty="0" err="1">
                <a:solidFill>
                  <a:schemeClr val="tx1"/>
                </a:solidFill>
              </a:rPr>
              <a:t>prochází</a:t>
            </a:r>
            <a:r>
              <a:rPr lang="en-US" sz="3000" b="1" dirty="0">
                <a:solidFill>
                  <a:schemeClr val="tx1"/>
                </a:solidFill>
              </a:rPr>
              <a:t> </a:t>
            </a:r>
            <a:r>
              <a:rPr lang="en-US" sz="3000" b="1" dirty="0" err="1">
                <a:solidFill>
                  <a:schemeClr val="tx1"/>
                </a:solidFill>
              </a:rPr>
              <a:t>evolucí</a:t>
            </a:r>
            <a:endParaRPr lang="en-US" sz="3000" dirty="0"/>
          </a:p>
        </p:txBody>
      </p:sp>
      <p:sp>
        <p:nvSpPr>
          <p:cNvPr id="4" name="Podtitul"/>
          <p:cNvSpPr txBox="1"/>
          <p:nvPr/>
        </p:nvSpPr>
        <p:spPr>
          <a:xfrm>
            <a:off x="548640" y="1335024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MZČR zavedlo koordinátora, VZP hradí jeho práci – dalším krokem je nástroj, který mu usnadní administraci.</a:t>
            </a:r>
            <a:endParaRPr lang="en-US" sz="1500" dirty="0"/>
          </a:p>
        </p:txBody>
      </p:sp>
      <p:sp>
        <p:nvSpPr>
          <p:cNvPr id="5" name="Koordinátor"/>
          <p:cNvSpPr/>
          <p:nvPr/>
        </p:nvSpPr>
        <p:spPr>
          <a:xfrm>
            <a:off x="5181448" y="2331720"/>
            <a:ext cx="1828800" cy="1828800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Koordinátor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175608" y="42976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Vedle zdravotníků pomáhá v péči o onkologického pacienta organizací cesty pacienta.</a:t>
            </a:r>
            <a:endParaRPr lang="en-US" sz="1400" dirty="0"/>
          </a:p>
        </p:txBody>
      </p:sp>
      <p:sp>
        <p:nvSpPr>
          <p:cNvPr id="10" name="MZČR"/>
          <p:cNvSpPr/>
          <p:nvPr/>
        </p:nvSpPr>
        <p:spPr>
          <a:xfrm>
            <a:off x="548640" y="2331720"/>
            <a:ext cx="329184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Ikona pozadí"/>
          <p:cNvSpPr/>
          <p:nvPr/>
        </p:nvSpPr>
        <p:spPr>
          <a:xfrm>
            <a:off x="822960" y="2606040"/>
            <a:ext cx="685800" cy="685800"/>
          </a:xfrm>
          <a:prstGeom prst="ellipse">
            <a:avLst/>
          </a:prstGeom>
          <a:solidFill>
            <a:srgbClr val="16324F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2" name="Ikona LuLandmark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2777490"/>
            <a:ext cx="342900" cy="3429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91640" y="26060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MZČR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" y="3429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Zavedlo funkci koordinátora</a:t>
            </a:r>
            <a:endParaRPr lang="en-US" sz="1600" dirty="0"/>
          </a:p>
        </p:txBody>
      </p:sp>
      <p:sp>
        <p:nvSpPr>
          <p:cNvPr id="15" name="Šipka"/>
          <p:cNvSpPr/>
          <p:nvPr/>
        </p:nvSpPr>
        <p:spPr>
          <a:xfrm>
            <a:off x="3913632" y="3246120"/>
            <a:ext cx="1176376" cy="914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16" name="VZP"/>
          <p:cNvSpPr/>
          <p:nvPr/>
        </p:nvSpPr>
        <p:spPr>
          <a:xfrm>
            <a:off x="8351215" y="1783080"/>
            <a:ext cx="3291840" cy="429768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Ikona pozadí"/>
          <p:cNvSpPr/>
          <p:nvPr/>
        </p:nvSpPr>
        <p:spPr>
          <a:xfrm>
            <a:off x="8625535" y="2011680"/>
            <a:ext cx="685800" cy="685800"/>
          </a:xfrm>
          <a:prstGeom prst="ellipse">
            <a:avLst/>
          </a:prstGeom>
          <a:solidFill>
            <a:srgbClr val="16324F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8" name="Ikona LuShieldCheck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6985" y="2183130"/>
            <a:ext cx="342900" cy="3429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494215" y="20116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VZP</a:t>
            </a:r>
            <a:endParaRPr lang="en-US" sz="2200" dirty="0"/>
          </a:p>
        </p:txBody>
      </p:sp>
      <p:sp>
        <p:nvSpPr>
          <p:cNvPr id="20" name="Úhrada"/>
          <p:cNvSpPr/>
          <p:nvPr/>
        </p:nvSpPr>
        <p:spPr>
          <a:xfrm>
            <a:off x="8579815" y="2880360"/>
            <a:ext cx="283464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2695" y="3090672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219895" y="28803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Hradí práci koordinátora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8579815" y="3794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1"/>
                </a:solidFill>
              </a:rPr>
              <a:t>DALŠÍ KROK PODPORY</a:t>
            </a:r>
            <a:endParaRPr lang="en-US" sz="1100" dirty="0"/>
          </a:p>
        </p:txBody>
      </p:sp>
      <p:sp>
        <p:nvSpPr>
          <p:cNvPr id="24" name="Zadání výzvy"/>
          <p:cNvSpPr/>
          <p:nvPr/>
        </p:nvSpPr>
        <p:spPr>
          <a:xfrm>
            <a:off x="8579815" y="4160520"/>
            <a:ext cx="2834640" cy="1691640"/>
          </a:xfrm>
          <a:prstGeom prst="roundRect">
            <a:avLst>
              <a:gd name="adj" fmla="val 4324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2695" y="438912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247327" y="4389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ZADÁNÍ TÉTO VÝZVY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8762695" y="48920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Pracovní nástroj usnadňující koordinátorovi administraci práce</a:t>
            </a:r>
            <a:endParaRPr lang="en-US" sz="1600" dirty="0"/>
          </a:p>
        </p:txBody>
      </p:sp>
      <p:sp>
        <p:nvSpPr>
          <p:cNvPr id="28" name="Šipka"/>
          <p:cNvSpPr/>
          <p:nvPr/>
        </p:nvSpPr>
        <p:spPr>
          <a:xfrm>
            <a:off x="7101688" y="3246120"/>
            <a:ext cx="1176376" cy="914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head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4747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0386244-1F2F-E079-4A16-17D8F9657300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cs-CZ" dirty="0"/>
              <a:t>Kdo to je koordinátor a co dělá?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8F2A9AD2-DE90-BD61-23FB-82168299ED98}"/>
              </a:ext>
            </a:extLst>
          </p:cNvPr>
          <p:cNvSpPr txBox="1"/>
          <p:nvPr/>
        </p:nvSpPr>
        <p:spPr>
          <a:xfrm>
            <a:off x="548640" y="230142"/>
            <a:ext cx="60976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1"/>
                </a:solidFill>
              </a:rPr>
              <a:t>ÚVOD DO PROBLEMATIKY</a:t>
            </a:r>
            <a:endParaRPr lang="en-US" sz="1100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77525E49-D9D8-78F1-D973-4BB7A81EC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775" y="1594043"/>
            <a:ext cx="7772400" cy="450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057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kce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1"/>
                </a:solidFill>
              </a:rPr>
              <a:t>ÚVOD DO PROBLEMATIKY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13232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Koordinátor K1 hlídá čas do léčby</a:t>
            </a:r>
            <a:endParaRPr lang="en-US" sz="3000" dirty="0"/>
          </a:p>
        </p:txBody>
      </p:sp>
      <p:sp>
        <p:nvSpPr>
          <p:cNvPr id="5" name="Fáze Symptom"/>
          <p:cNvSpPr/>
          <p:nvPr/>
        </p:nvSpPr>
        <p:spPr>
          <a:xfrm>
            <a:off x="664143" y="4846320"/>
            <a:ext cx="2103120" cy="658368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Symptom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64143" y="44988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PL / SPECIALISTA</a:t>
            </a:r>
            <a:endParaRPr lang="en-US" sz="1100" dirty="0"/>
          </a:p>
        </p:txBody>
      </p:sp>
      <p:sp>
        <p:nvSpPr>
          <p:cNvPr id="7" name="Šipka"/>
          <p:cNvSpPr/>
          <p:nvPr/>
        </p:nvSpPr>
        <p:spPr>
          <a:xfrm>
            <a:off x="2840415" y="5175504"/>
            <a:ext cx="747674" cy="914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 txBox="1"/>
          <p:nvPr/>
        </p:nvSpPr>
        <p:spPr>
          <a:xfrm>
            <a:off x="2840415" y="4791456"/>
            <a:ext cx="7476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T1</a:t>
            </a:r>
            <a:endParaRPr lang="en-US" sz="1500" dirty="0"/>
          </a:p>
        </p:txBody>
      </p:sp>
      <p:sp>
        <p:nvSpPr>
          <p:cNvPr id="9" name="Fáze Diagnostika"/>
          <p:cNvSpPr/>
          <p:nvPr/>
        </p:nvSpPr>
        <p:spPr>
          <a:xfrm>
            <a:off x="3661241" y="4846320"/>
            <a:ext cx="2103120" cy="658368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Diagnostika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661241" y="44988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KOC / ROC</a:t>
            </a:r>
            <a:endParaRPr lang="en-US" sz="1100" dirty="0"/>
          </a:p>
        </p:txBody>
      </p:sp>
      <p:sp>
        <p:nvSpPr>
          <p:cNvPr id="11" name="Šipka"/>
          <p:cNvSpPr/>
          <p:nvPr/>
        </p:nvSpPr>
        <p:spPr>
          <a:xfrm>
            <a:off x="5837513" y="5175504"/>
            <a:ext cx="747674" cy="914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12" name="Text 10"/>
          <p:cNvSpPr txBox="1"/>
          <p:nvPr/>
        </p:nvSpPr>
        <p:spPr>
          <a:xfrm>
            <a:off x="5837513" y="4791456"/>
            <a:ext cx="7476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T2</a:t>
            </a:r>
            <a:endParaRPr lang="en-US" sz="1500" dirty="0"/>
          </a:p>
        </p:txBody>
      </p:sp>
      <p:sp>
        <p:nvSpPr>
          <p:cNvPr id="13" name="Fáze MDT"/>
          <p:cNvSpPr/>
          <p:nvPr/>
        </p:nvSpPr>
        <p:spPr>
          <a:xfrm>
            <a:off x="6658340" y="4846320"/>
            <a:ext cx="2103120" cy="658368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MDT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658340" y="44988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KOC</a:t>
            </a:r>
            <a:endParaRPr lang="en-US" sz="1100" dirty="0"/>
          </a:p>
        </p:txBody>
      </p:sp>
      <p:sp>
        <p:nvSpPr>
          <p:cNvPr id="15" name="Šipka"/>
          <p:cNvSpPr/>
          <p:nvPr/>
        </p:nvSpPr>
        <p:spPr>
          <a:xfrm>
            <a:off x="8834612" y="5175504"/>
            <a:ext cx="747674" cy="914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16" name="Text 14"/>
          <p:cNvSpPr txBox="1"/>
          <p:nvPr/>
        </p:nvSpPr>
        <p:spPr>
          <a:xfrm>
            <a:off x="8834612" y="4791456"/>
            <a:ext cx="7476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T3</a:t>
            </a:r>
            <a:endParaRPr lang="en-US" sz="1500" dirty="0"/>
          </a:p>
        </p:txBody>
      </p:sp>
      <p:sp>
        <p:nvSpPr>
          <p:cNvPr id="17" name="Fáze Léčba"/>
          <p:cNvSpPr/>
          <p:nvPr/>
        </p:nvSpPr>
        <p:spPr>
          <a:xfrm>
            <a:off x="9655438" y="4846320"/>
            <a:ext cx="2103120" cy="658368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Léčba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655438" y="44988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KOC / ROC</a:t>
            </a:r>
            <a:endParaRPr lang="en-US" sz="1100" dirty="0"/>
          </a:p>
        </p:txBody>
      </p:sp>
      <p:sp>
        <p:nvSpPr>
          <p:cNvPr id="22" name="Závorka"/>
          <p:cNvSpPr/>
          <p:nvPr/>
        </p:nvSpPr>
        <p:spPr>
          <a:xfrm>
            <a:off x="6211351" y="5733288"/>
            <a:ext cx="0" cy="228589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Čas do léčby"/>
          <p:cNvSpPr/>
          <p:nvPr/>
        </p:nvSpPr>
        <p:spPr>
          <a:xfrm>
            <a:off x="3833911" y="5961888"/>
            <a:ext cx="475488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Čas do léčby = T1 + T2 + T3</a:t>
            </a:r>
            <a:r>
              <a:rPr lang="en-US" sz="1600" dirty="0">
                <a:solidFill>
                  <a:schemeClr val="bg1"/>
                </a:solidFill>
              </a:rPr>
              <a:t>   ·   hlídá koordinátor</a:t>
            </a:r>
            <a:endParaRPr lang="en-US" sz="16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4747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cxnSp>
        <p:nvCxnSpPr>
          <p:cNvPr id="36" name="Přímá spojovací šipka 35">
            <a:extLst>
              <a:ext uri="{FF2B5EF4-FFF2-40B4-BE49-F238E27FC236}">
                <a16:creationId xmlns:a16="http://schemas.microsoft.com/office/drawing/2014/main" id="{519B1E79-B40D-1CCF-AC08-BAA40D5FDD77}"/>
              </a:ext>
            </a:extLst>
          </p:cNvPr>
          <p:cNvCxnSpPr>
            <a:cxnSpLocks/>
          </p:cNvCxnSpPr>
          <p:nvPr/>
        </p:nvCxnSpPr>
        <p:spPr>
          <a:xfrm>
            <a:off x="2840415" y="5733288"/>
            <a:ext cx="6741871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Obrázek 37">
            <a:extLst>
              <a:ext uri="{FF2B5EF4-FFF2-40B4-BE49-F238E27FC236}">
                <a16:creationId xmlns:a16="http://schemas.microsoft.com/office/drawing/2014/main" id="{D9ED65CF-ED52-3274-70B3-0A4542028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794984"/>
            <a:ext cx="5554424" cy="3145069"/>
          </a:xfrm>
          <a:prstGeom prst="rect">
            <a:avLst/>
          </a:prstGeom>
        </p:spPr>
      </p:pic>
      <p:sp>
        <p:nvSpPr>
          <p:cNvPr id="40" name="TextovéPole 39">
            <a:extLst>
              <a:ext uri="{FF2B5EF4-FFF2-40B4-BE49-F238E27FC236}">
                <a16:creationId xmlns:a16="http://schemas.microsoft.com/office/drawing/2014/main" id="{1BB3156A-60C8-3F45-2615-FE6EA0754CD0}"/>
              </a:ext>
            </a:extLst>
          </p:cNvPr>
          <p:cNvSpPr txBox="1"/>
          <p:nvPr/>
        </p:nvSpPr>
        <p:spPr>
          <a:xfrm>
            <a:off x="548640" y="1752183"/>
            <a:ext cx="5215721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Pacient</a:t>
            </a:r>
            <a:r>
              <a:rPr lang="en-US" sz="1600" dirty="0">
                <a:solidFill>
                  <a:schemeClr val="tx1"/>
                </a:solidFill>
              </a:rPr>
              <a:t> 60 let</a:t>
            </a:r>
          </a:p>
          <a:p>
            <a:r>
              <a:rPr lang="en-US" sz="1600" b="1" dirty="0"/>
              <a:t>5.1.2026 </a:t>
            </a:r>
            <a:r>
              <a:rPr lang="en-US" sz="1600" b="1" dirty="0" err="1"/>
              <a:t>zežloutnul</a:t>
            </a:r>
            <a:r>
              <a:rPr lang="en-US" sz="1600" dirty="0"/>
              <a:t>, </a:t>
            </a:r>
            <a:r>
              <a:rPr lang="en-US" sz="1600" dirty="0" err="1"/>
              <a:t>volá</a:t>
            </a:r>
            <a:r>
              <a:rPr lang="en-US" sz="1600" dirty="0"/>
              <a:t> PL </a:t>
            </a:r>
          </a:p>
          <a:p>
            <a:r>
              <a:rPr lang="en-US" sz="1600" dirty="0"/>
              <a:t>6.1. UZ </a:t>
            </a:r>
            <a:r>
              <a:rPr lang="en-US" sz="1600" dirty="0" err="1"/>
              <a:t>břicha</a:t>
            </a:r>
            <a:r>
              <a:rPr lang="en-US" sz="1600" dirty="0"/>
              <a:t>: </a:t>
            </a:r>
            <a:r>
              <a:rPr lang="en-US" sz="1600" dirty="0" err="1"/>
              <a:t>nález</a:t>
            </a:r>
            <a:r>
              <a:rPr lang="en-US" sz="1600" dirty="0"/>
              <a:t> </a:t>
            </a:r>
            <a:r>
              <a:rPr lang="en-US" sz="1600" dirty="0" err="1"/>
              <a:t>tumoru</a:t>
            </a:r>
            <a:r>
              <a:rPr lang="en-US" sz="1600" dirty="0"/>
              <a:t> </a:t>
            </a:r>
            <a:r>
              <a:rPr lang="en-US" sz="1600" dirty="0" err="1"/>
              <a:t>slinivky</a:t>
            </a:r>
            <a:endParaRPr lang="en-US" sz="1600" dirty="0"/>
          </a:p>
          <a:p>
            <a:r>
              <a:rPr lang="en-US" sz="1600" dirty="0"/>
              <a:t>6.1. PL </a:t>
            </a:r>
            <a:r>
              <a:rPr lang="en-US" sz="1600" dirty="0" err="1"/>
              <a:t>aktivuje</a:t>
            </a:r>
            <a:r>
              <a:rPr lang="en-US" sz="1600" dirty="0"/>
              <a:t> </a:t>
            </a:r>
            <a:r>
              <a:rPr lang="en-US" sz="1600" dirty="0" err="1"/>
              <a:t>koordinátora</a:t>
            </a:r>
            <a:r>
              <a:rPr lang="en-US" sz="1600" dirty="0"/>
              <a:t> KOC </a:t>
            </a:r>
            <a:r>
              <a:rPr lang="en-US" sz="1600" dirty="0">
                <a:solidFill>
                  <a:srgbClr val="C00000"/>
                </a:solidFill>
              </a:rPr>
              <a:t>(</a:t>
            </a:r>
            <a:r>
              <a:rPr lang="cs-CZ" sz="1600" dirty="0">
                <a:solidFill>
                  <a:srgbClr val="B2071D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koordinace-hpb@vfn.</a:t>
            </a:r>
            <a:r>
              <a:rPr lang="cs-CZ" sz="1600" dirty="0">
                <a:solidFill>
                  <a:srgbClr val="C0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cz</a:t>
            </a:r>
            <a:r>
              <a:rPr lang="cs-CZ" sz="1600" dirty="0">
                <a:solidFill>
                  <a:srgbClr val="C00000"/>
                </a:solidFill>
              </a:rPr>
              <a:t>)</a:t>
            </a:r>
            <a:endParaRPr lang="en-US" sz="1600" dirty="0">
              <a:solidFill>
                <a:srgbClr val="C00000"/>
              </a:solidFill>
            </a:endParaRPr>
          </a:p>
          <a:p>
            <a:r>
              <a:rPr lang="en-US" sz="1600" dirty="0"/>
              <a:t>7.1. </a:t>
            </a:r>
            <a:r>
              <a:rPr lang="en-US" sz="1600" dirty="0" err="1"/>
              <a:t>pacient</a:t>
            </a:r>
            <a:r>
              <a:rPr lang="en-US" sz="1600" dirty="0"/>
              <a:t> </a:t>
            </a:r>
            <a:r>
              <a:rPr lang="en-US" sz="1600" dirty="0" err="1"/>
              <a:t>hospitalizován</a:t>
            </a:r>
            <a:endParaRPr lang="en-US" sz="1600" dirty="0"/>
          </a:p>
          <a:p>
            <a:r>
              <a:rPr lang="en-US" sz="1600" dirty="0"/>
              <a:t>9.1. </a:t>
            </a:r>
            <a:r>
              <a:rPr lang="en-US" sz="1600" dirty="0" err="1"/>
              <a:t>zaveden</a:t>
            </a:r>
            <a:r>
              <a:rPr lang="en-US" sz="1600" dirty="0"/>
              <a:t> stent do </a:t>
            </a:r>
            <a:r>
              <a:rPr lang="en-US" sz="1600" dirty="0" err="1"/>
              <a:t>žlučových</a:t>
            </a:r>
            <a:r>
              <a:rPr lang="en-US" sz="1600" dirty="0"/>
              <a:t> </a:t>
            </a:r>
            <a:r>
              <a:rPr lang="en-US" sz="1600" dirty="0" err="1"/>
              <a:t>cest</a:t>
            </a:r>
            <a:r>
              <a:rPr lang="en-US" sz="1600" dirty="0"/>
              <a:t> + </a:t>
            </a:r>
            <a:r>
              <a:rPr lang="en-US" sz="1600" b="1" dirty="0" err="1"/>
              <a:t>odběr</a:t>
            </a:r>
            <a:r>
              <a:rPr lang="en-US" sz="1600" b="1" dirty="0"/>
              <a:t> </a:t>
            </a:r>
            <a:r>
              <a:rPr lang="en-US" sz="1600" b="1" dirty="0" err="1"/>
              <a:t>histologie</a:t>
            </a:r>
            <a:r>
              <a:rPr lang="en-US" sz="1600" b="1" dirty="0"/>
              <a:t> </a:t>
            </a:r>
          </a:p>
          <a:p>
            <a:r>
              <a:rPr lang="en-US" sz="1600" b="1" dirty="0"/>
              <a:t>12.1. </a:t>
            </a:r>
            <a:r>
              <a:rPr lang="en-US" sz="1600" b="1" dirty="0" err="1"/>
              <a:t>provedeno</a:t>
            </a:r>
            <a:r>
              <a:rPr lang="en-US" sz="1600" b="1" dirty="0"/>
              <a:t> CT, TM    </a:t>
            </a:r>
          </a:p>
          <a:p>
            <a:r>
              <a:rPr lang="en-US" sz="1600" dirty="0">
                <a:solidFill>
                  <a:schemeClr val="tx1"/>
                </a:solidFill>
              </a:rPr>
              <a:t>13.1. </a:t>
            </a:r>
            <a:r>
              <a:rPr lang="en-US" sz="1600" dirty="0" err="1">
                <a:solidFill>
                  <a:schemeClr val="tx1"/>
                </a:solidFill>
              </a:rPr>
              <a:t>zasedá</a:t>
            </a:r>
            <a:r>
              <a:rPr lang="en-US" sz="1600" dirty="0">
                <a:solidFill>
                  <a:schemeClr val="tx1"/>
                </a:solidFill>
              </a:rPr>
              <a:t> 1. MDT, 20.1. </a:t>
            </a:r>
            <a:r>
              <a:rPr lang="en-US" sz="1600" dirty="0" err="1">
                <a:solidFill>
                  <a:schemeClr val="tx1"/>
                </a:solidFill>
              </a:rPr>
              <a:t>zasedá</a:t>
            </a:r>
            <a:r>
              <a:rPr lang="en-US" sz="1600" dirty="0">
                <a:solidFill>
                  <a:schemeClr val="tx1"/>
                </a:solidFill>
              </a:rPr>
              <a:t> 2.MDT</a:t>
            </a:r>
          </a:p>
          <a:p>
            <a:r>
              <a:rPr lang="en-US" sz="1600" b="1" dirty="0"/>
              <a:t>26.1. </a:t>
            </a:r>
            <a:r>
              <a:rPr lang="en-US" sz="1600" b="1" dirty="0" err="1"/>
              <a:t>pacient</a:t>
            </a:r>
            <a:r>
              <a:rPr lang="en-US" sz="1600" b="1" dirty="0"/>
              <a:t> </a:t>
            </a:r>
            <a:r>
              <a:rPr lang="en-US" sz="1600" b="1" dirty="0" err="1"/>
              <a:t>operován</a:t>
            </a:r>
            <a:endParaRPr lang="cs-CZ" sz="2000" b="1" dirty="0"/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45B70174-F171-F1E7-1A46-2451C3A88310}"/>
              </a:ext>
            </a:extLst>
          </p:cNvPr>
          <p:cNvSpPr txBox="1"/>
          <p:nvPr/>
        </p:nvSpPr>
        <p:spPr>
          <a:xfrm>
            <a:off x="3610340" y="6487990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KOC: </a:t>
            </a:r>
            <a:r>
              <a:rPr lang="en-US" sz="1000" dirty="0" err="1">
                <a:solidFill>
                  <a:schemeClr val="tx2"/>
                </a:solidFill>
              </a:rPr>
              <a:t>komplexní</a:t>
            </a:r>
            <a:r>
              <a:rPr lang="en-US" sz="1000" dirty="0">
                <a:solidFill>
                  <a:schemeClr val="tx2"/>
                </a:solidFill>
              </a:rPr>
              <a:t> </a:t>
            </a:r>
            <a:r>
              <a:rPr lang="en-US" sz="1000" dirty="0" err="1">
                <a:solidFill>
                  <a:schemeClr val="tx2"/>
                </a:solidFill>
              </a:rPr>
              <a:t>onkologické</a:t>
            </a:r>
            <a:r>
              <a:rPr lang="en-US" sz="1000" dirty="0">
                <a:solidFill>
                  <a:schemeClr val="tx2"/>
                </a:solidFill>
              </a:rPr>
              <a:t> centrum, ROC: </a:t>
            </a:r>
            <a:r>
              <a:rPr lang="en-US" sz="1000" dirty="0" err="1">
                <a:solidFill>
                  <a:schemeClr val="tx2"/>
                </a:solidFill>
              </a:rPr>
              <a:t>regionální</a:t>
            </a:r>
            <a:r>
              <a:rPr lang="en-US" sz="1000" dirty="0">
                <a:solidFill>
                  <a:schemeClr val="tx2"/>
                </a:solidFill>
              </a:rPr>
              <a:t> </a:t>
            </a:r>
            <a:r>
              <a:rPr lang="en-US" sz="1000" dirty="0" err="1">
                <a:solidFill>
                  <a:schemeClr val="tx2"/>
                </a:solidFill>
              </a:rPr>
              <a:t>onkologické</a:t>
            </a:r>
            <a:r>
              <a:rPr lang="en-US" sz="1000" dirty="0">
                <a:solidFill>
                  <a:schemeClr val="tx2"/>
                </a:solidFill>
              </a:rPr>
              <a:t> centrum, PL: </a:t>
            </a:r>
            <a:r>
              <a:rPr lang="en-US" sz="1000" dirty="0" err="1">
                <a:solidFill>
                  <a:schemeClr val="tx2"/>
                </a:solidFill>
              </a:rPr>
              <a:t>praktický</a:t>
            </a:r>
            <a:r>
              <a:rPr lang="en-US" sz="1000" dirty="0">
                <a:solidFill>
                  <a:schemeClr val="tx2"/>
                </a:solidFill>
              </a:rPr>
              <a:t> </a:t>
            </a:r>
            <a:r>
              <a:rPr lang="en-US" sz="1000" dirty="0" err="1">
                <a:solidFill>
                  <a:schemeClr val="tx2"/>
                </a:solidFill>
              </a:rPr>
              <a:t>lékař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kce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1"/>
                </a:solidFill>
              </a:rPr>
              <a:t>VÝZVA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13232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Problém, který má výzva odstranit</a:t>
            </a:r>
            <a:endParaRPr lang="en-US" sz="3000" dirty="0"/>
          </a:p>
        </p:txBody>
      </p:sp>
      <p:sp>
        <p:nvSpPr>
          <p:cNvPr id="4" name="Podtitul"/>
          <p:cNvSpPr txBox="1"/>
          <p:nvPr/>
        </p:nvSpPr>
        <p:spPr>
          <a:xfrm>
            <a:off x="548640" y="1335024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Informace se na cestě pacienta ztrácejí na třech místech.</a:t>
            </a:r>
            <a:endParaRPr lang="en-US" sz="1500" dirty="0"/>
          </a:p>
        </p:txBody>
      </p:sp>
      <p:sp>
        <p:nvSpPr>
          <p:cNvPr id="5" name="NA VSTUPU"/>
          <p:cNvSpPr/>
          <p:nvPr/>
        </p:nvSpPr>
        <p:spPr>
          <a:xfrm>
            <a:off x="548640" y="1965960"/>
            <a:ext cx="3515258" cy="3749040"/>
          </a:xfrm>
          <a:prstGeom prst="roundRect">
            <a:avLst>
              <a:gd name="adj" fmla="val 208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Ikona pozadí"/>
          <p:cNvSpPr/>
          <p:nvPr/>
        </p:nvSpPr>
        <p:spPr>
          <a:xfrm>
            <a:off x="822960" y="2240280"/>
            <a:ext cx="640080" cy="640080"/>
          </a:xfrm>
          <a:prstGeom prst="ellipse">
            <a:avLst/>
          </a:prstGeom>
          <a:solidFill>
            <a:srgbClr val="B2071D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7" name="Ikona LuFileX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24003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2240280"/>
            <a:ext cx="2326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1"/>
                </a:solidFill>
              </a:rPr>
              <a:t>NA VSTUPU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2496312"/>
            <a:ext cx="23265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Dokumentace přichází roztříštěná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200400"/>
            <a:ext cx="301233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Dokumentace je předávána různými kanály a často nekompletně.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Lékaři opakovaně přepisují údaje, které už ve zdravotnické dokumentaci existují.</a:t>
            </a:r>
            <a:endParaRPr lang="en-US" sz="1400" dirty="0"/>
          </a:p>
        </p:txBody>
      </p:sp>
      <p:sp>
        <p:nvSpPr>
          <p:cNvPr id="11" name="UVNITŘ KOC"/>
          <p:cNvSpPr/>
          <p:nvPr/>
        </p:nvSpPr>
        <p:spPr>
          <a:xfrm>
            <a:off x="4338218" y="1965960"/>
            <a:ext cx="3515258" cy="3749040"/>
          </a:xfrm>
          <a:prstGeom prst="roundRect">
            <a:avLst>
              <a:gd name="adj" fmla="val 208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Ikona pozadí"/>
          <p:cNvSpPr/>
          <p:nvPr/>
        </p:nvSpPr>
        <p:spPr>
          <a:xfrm>
            <a:off x="4612538" y="2240280"/>
            <a:ext cx="640080" cy="640080"/>
          </a:xfrm>
          <a:prstGeom prst="ellipse">
            <a:avLst/>
          </a:prstGeom>
          <a:solidFill>
            <a:srgbClr val="B2071D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3" name="Ikona LuSearch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2558" y="240030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89778" y="2240280"/>
            <a:ext cx="2326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1"/>
                </a:solidFill>
              </a:rPr>
              <a:t>UVNITŘ KOC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5389778" y="2496312"/>
            <a:ext cx="23265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Koordinátor nemá čas koordinovat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4612538" y="3200400"/>
            <a:ext cx="301233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Koordinátor KOC tráví velkou část času dohledáváním chybějících údajů a dokumentů místo koordinace péče.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Není společný přehled o stavu případu, termínech a odpovědnosti za další krok.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MDT může dostat podklady pozdě nebo nekompletní.</a:t>
            </a:r>
            <a:endParaRPr lang="en-US" sz="1400" dirty="0"/>
          </a:p>
        </p:txBody>
      </p:sp>
      <p:sp>
        <p:nvSpPr>
          <p:cNvPr id="17" name="NA VÝSTUPU"/>
          <p:cNvSpPr/>
          <p:nvPr/>
        </p:nvSpPr>
        <p:spPr>
          <a:xfrm>
            <a:off x="8127797" y="1965960"/>
            <a:ext cx="3515258" cy="3749040"/>
          </a:xfrm>
          <a:prstGeom prst="roundRect">
            <a:avLst>
              <a:gd name="adj" fmla="val 208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Ikona pozadí"/>
          <p:cNvSpPr/>
          <p:nvPr/>
        </p:nvSpPr>
        <p:spPr>
          <a:xfrm>
            <a:off x="8402117" y="2240280"/>
            <a:ext cx="640080" cy="640080"/>
          </a:xfrm>
          <a:prstGeom prst="ellipse">
            <a:avLst/>
          </a:prstGeom>
          <a:solidFill>
            <a:srgbClr val="B2071D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9" name="Ikona LuHourglass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2137" y="240030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9179357" y="2240280"/>
            <a:ext cx="2326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1"/>
                </a:solidFill>
              </a:rPr>
              <a:t>NA VÝSTUPU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9179357" y="2496312"/>
            <a:ext cx="23265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Informační smyčka se neuzavírá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8402117" y="3200400"/>
            <a:ext cx="301233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Referující lékař nemá jednoduchý způsob, jak zjistit, zda byl pacient přijat, co chybí a jak MDT rozhodl.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Prodleva mezi odesláním pacienta, doplněním dokumentace, rozhodnutím centra a zahájením léčby se obtížně sleduje.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4747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kce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1"/>
                </a:solidFill>
              </a:rPr>
              <a:t>VÝZVA</a:t>
            </a:r>
            <a:endParaRPr lang="en-US" sz="1100" dirty="0"/>
          </a:p>
        </p:txBody>
      </p:sp>
      <p:sp>
        <p:nvSpPr>
          <p:cNvPr id="3" name="Postup 1"/>
          <p:cNvSpPr/>
          <p:nvPr/>
        </p:nvSpPr>
        <p:spPr>
          <a:xfrm>
            <a:off x="5754319" y="310896"/>
            <a:ext cx="1417320" cy="329184"/>
          </a:xfrm>
          <a:prstGeom prst="roundRect">
            <a:avLst>
              <a:gd name="adj" fmla="val 41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01 PŘEVZÍT</a:t>
            </a:r>
            <a:endParaRPr lang="en-US" sz="1000" dirty="0"/>
          </a:p>
        </p:txBody>
      </p:sp>
      <p:sp>
        <p:nvSpPr>
          <p:cNvPr id="4" name="Postup 2"/>
          <p:cNvSpPr/>
          <p:nvPr/>
        </p:nvSpPr>
        <p:spPr>
          <a:xfrm>
            <a:off x="7244791" y="310896"/>
            <a:ext cx="1417320" cy="329184"/>
          </a:xfrm>
          <a:prstGeom prst="roundRect">
            <a:avLst>
              <a:gd name="adj" fmla="val 41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02 VYTĚŽIT</a:t>
            </a:r>
            <a:endParaRPr lang="en-US" sz="1000" dirty="0"/>
          </a:p>
        </p:txBody>
      </p:sp>
      <p:sp>
        <p:nvSpPr>
          <p:cNvPr id="5" name="Postup 3"/>
          <p:cNvSpPr/>
          <p:nvPr/>
        </p:nvSpPr>
        <p:spPr>
          <a:xfrm>
            <a:off x="8735263" y="310896"/>
            <a:ext cx="1417320" cy="329184"/>
          </a:xfrm>
          <a:prstGeom prst="roundRect">
            <a:avLst>
              <a:gd name="adj" fmla="val 41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03 KOORDINOVAT</a:t>
            </a:r>
            <a:endParaRPr lang="en-US" sz="1000" dirty="0"/>
          </a:p>
        </p:txBody>
      </p:sp>
      <p:sp>
        <p:nvSpPr>
          <p:cNvPr id="6" name="Postup 4"/>
          <p:cNvSpPr/>
          <p:nvPr/>
        </p:nvSpPr>
        <p:spPr>
          <a:xfrm>
            <a:off x="10225735" y="310896"/>
            <a:ext cx="1417320" cy="329184"/>
          </a:xfrm>
          <a:prstGeom prst="roundRect">
            <a:avLst>
              <a:gd name="adj" fmla="val 41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04 ZPĚTNÁ VAZBA</a:t>
            </a:r>
            <a:endParaRPr lang="en-US" sz="10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13232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Co je vaším úkolem?</a:t>
            </a:r>
            <a:endParaRPr lang="en-US" sz="3000" dirty="0"/>
          </a:p>
        </p:txBody>
      </p:sp>
      <p:sp>
        <p:nvSpPr>
          <p:cNvPr id="8" name="Mise"/>
          <p:cNvSpPr/>
          <p:nvPr/>
        </p:nvSpPr>
        <p:spPr>
          <a:xfrm>
            <a:off x="548640" y="1463040"/>
            <a:ext cx="11094415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 txBox="1"/>
          <p:nvPr/>
        </p:nvSpPr>
        <p:spPr>
          <a:xfrm>
            <a:off x="777240" y="14630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Postavte funkční prototyp, </a:t>
            </a:r>
            <a:r>
              <a:rPr lang="en-US" sz="1600" dirty="0">
                <a:solidFill>
                  <a:schemeClr val="tx1"/>
                </a:solidFill>
              </a:rPr>
              <a:t>který provede jeden onkologický případ od referování až po zpětnou vazbu – bez ztráty informací.</a:t>
            </a:r>
            <a:endParaRPr lang="en-US" sz="1600" dirty="0"/>
          </a:p>
        </p:txBody>
      </p:sp>
      <p:sp>
        <p:nvSpPr>
          <p:cNvPr id="10" name="Cesta"/>
          <p:cNvSpPr/>
          <p:nvPr/>
        </p:nvSpPr>
        <p:spPr>
          <a:xfrm>
            <a:off x="1124712" y="2679192"/>
            <a:ext cx="8492261" cy="91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ash"/>
          </a:ln>
        </p:spPr>
        <p:txBody>
          <a:bodyPr/>
          <a:lstStyle/>
          <a:p>
            <a:endParaRPr lang="cs-CZ"/>
          </a:p>
        </p:txBody>
      </p:sp>
      <p:sp>
        <p:nvSpPr>
          <p:cNvPr id="11" name="Číslo 01"/>
          <p:cNvSpPr/>
          <p:nvPr/>
        </p:nvSpPr>
        <p:spPr>
          <a:xfrm>
            <a:off x="822960" y="2377440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01</a:t>
            </a:r>
            <a:endParaRPr lang="en-US" sz="1800" dirty="0"/>
          </a:p>
        </p:txBody>
      </p:sp>
      <p:sp>
        <p:nvSpPr>
          <p:cNvPr id="12" name="PŘEVZÍT"/>
          <p:cNvSpPr/>
          <p:nvPr/>
        </p:nvSpPr>
        <p:spPr>
          <a:xfrm>
            <a:off x="548640" y="2926080"/>
            <a:ext cx="2602154" cy="2743200"/>
          </a:xfrm>
          <a:prstGeom prst="roundRect">
            <a:avLst>
              <a:gd name="adj" fmla="val 281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 txBox="1"/>
          <p:nvPr/>
        </p:nvSpPr>
        <p:spPr>
          <a:xfrm>
            <a:off x="822960" y="3154680"/>
            <a:ext cx="21449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chemeClr val="accent1"/>
                </a:solidFill>
              </a:rPr>
              <a:t>PŘEVZÍT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456432"/>
            <a:ext cx="21449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Pracujte s tím, co už existuje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160520"/>
            <a:ext cx="214495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Převezměte dostupnou zdravotnickou dokumentaci bez vytváření dalšího rozsáhlého formuláře.</a:t>
            </a:r>
            <a:endParaRPr lang="en-US" sz="1400" dirty="0"/>
          </a:p>
        </p:txBody>
      </p:sp>
      <p:sp>
        <p:nvSpPr>
          <p:cNvPr id="17" name="Číslo 02"/>
          <p:cNvSpPr/>
          <p:nvPr/>
        </p:nvSpPr>
        <p:spPr>
          <a:xfrm>
            <a:off x="3653714" y="2377440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02</a:t>
            </a:r>
            <a:endParaRPr lang="en-US" sz="1800" dirty="0"/>
          </a:p>
        </p:txBody>
      </p:sp>
      <p:sp>
        <p:nvSpPr>
          <p:cNvPr id="18" name="VYTĚŽIT"/>
          <p:cNvSpPr/>
          <p:nvPr/>
        </p:nvSpPr>
        <p:spPr>
          <a:xfrm>
            <a:off x="3379394" y="2926080"/>
            <a:ext cx="2602154" cy="2743200"/>
          </a:xfrm>
          <a:prstGeom prst="roundRect">
            <a:avLst>
              <a:gd name="adj" fmla="val 281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9" name="Text 17"/>
          <p:cNvSpPr txBox="1"/>
          <p:nvPr/>
        </p:nvSpPr>
        <p:spPr>
          <a:xfrm>
            <a:off x="3653714" y="3154680"/>
            <a:ext cx="21449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chemeClr val="accent1"/>
                </a:solidFill>
              </a:rPr>
              <a:t>VYTĚŽIT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653714" y="3456432"/>
            <a:ext cx="21449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Zapojte AI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3653714" y="4160520"/>
            <a:ext cx="214495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Automaticky z dokumentace získejte klíčové údaje a odhalte, co chybí.</a:t>
            </a:r>
            <a:endParaRPr lang="en-US" sz="1400" dirty="0"/>
          </a:p>
        </p:txBody>
      </p:sp>
      <p:sp>
        <p:nvSpPr>
          <p:cNvPr id="23" name="Číslo 03"/>
          <p:cNvSpPr/>
          <p:nvPr/>
        </p:nvSpPr>
        <p:spPr>
          <a:xfrm>
            <a:off x="6484468" y="2377440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03</a:t>
            </a:r>
            <a:endParaRPr lang="en-US" sz="1800" dirty="0"/>
          </a:p>
        </p:txBody>
      </p:sp>
      <p:sp>
        <p:nvSpPr>
          <p:cNvPr id="24" name="KOORDINOVAT"/>
          <p:cNvSpPr/>
          <p:nvPr/>
        </p:nvSpPr>
        <p:spPr>
          <a:xfrm>
            <a:off x="6210148" y="2926080"/>
            <a:ext cx="2602154" cy="2743200"/>
          </a:xfrm>
          <a:prstGeom prst="roundRect">
            <a:avLst>
              <a:gd name="adj" fmla="val 281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5" name="Text 23"/>
          <p:cNvSpPr txBox="1"/>
          <p:nvPr/>
        </p:nvSpPr>
        <p:spPr>
          <a:xfrm>
            <a:off x="6484468" y="3154680"/>
            <a:ext cx="21449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chemeClr val="accent1"/>
                </a:solidFill>
              </a:rPr>
              <a:t>KOORDINOVAT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84468" y="3456432"/>
            <a:ext cx="21449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Ukažte další krok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484468" y="4160520"/>
            <a:ext cx="214495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Vytvořte přehled stavu případu, termínu a toho, kdo je právě odpovědný.</a:t>
            </a:r>
            <a:endParaRPr lang="en-US" sz="1400" dirty="0"/>
          </a:p>
        </p:txBody>
      </p:sp>
      <p:sp>
        <p:nvSpPr>
          <p:cNvPr id="29" name="Číslo 04"/>
          <p:cNvSpPr/>
          <p:nvPr/>
        </p:nvSpPr>
        <p:spPr>
          <a:xfrm>
            <a:off x="9315221" y="2377440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04</a:t>
            </a:r>
            <a:endParaRPr lang="en-US" sz="1800" dirty="0"/>
          </a:p>
        </p:txBody>
      </p:sp>
      <p:sp>
        <p:nvSpPr>
          <p:cNvPr id="30" name="ZPĚTNÁ VAZBA"/>
          <p:cNvSpPr/>
          <p:nvPr/>
        </p:nvSpPr>
        <p:spPr>
          <a:xfrm>
            <a:off x="9040901" y="2926080"/>
            <a:ext cx="2602154" cy="2743200"/>
          </a:xfrm>
          <a:prstGeom prst="roundRect">
            <a:avLst>
              <a:gd name="adj" fmla="val 281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1" name="Text 29"/>
          <p:cNvSpPr txBox="1"/>
          <p:nvPr/>
        </p:nvSpPr>
        <p:spPr>
          <a:xfrm>
            <a:off x="9315221" y="3154680"/>
            <a:ext cx="21449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chemeClr val="accent1"/>
                </a:solidFill>
              </a:rPr>
              <a:t>ZPĚTNÁ VAZBA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315221" y="3456432"/>
            <a:ext cx="21449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Uzavřete informační smyčku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9315221" y="4160520"/>
            <a:ext cx="214495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Po rozhodnutí KOC/MDT vraťte referujícímu lékaři jasný a strukturovaný výsledek.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8521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Výstup: </a:t>
            </a:r>
            <a:r>
              <a:rPr lang="en-US" sz="1400" dirty="0">
                <a:solidFill>
                  <a:schemeClr val="tx1"/>
                </a:solidFill>
              </a:rPr>
              <a:t>jedna diagnóza a funkční demo celého průchodu případu (snímek 11)</a:t>
            </a:r>
            <a:endParaRPr lang="en-US" sz="14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4747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kce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1"/>
                </a:solidFill>
              </a:rPr>
              <a:t>VÝZVA  ·  REFEROVÁNÍ PACIENTA</a:t>
            </a:r>
            <a:endParaRPr lang="en-US" sz="1100" dirty="0"/>
          </a:p>
        </p:txBody>
      </p:sp>
      <p:sp>
        <p:nvSpPr>
          <p:cNvPr id="3" name="Postup 1"/>
          <p:cNvSpPr/>
          <p:nvPr/>
        </p:nvSpPr>
        <p:spPr>
          <a:xfrm>
            <a:off x="5754319" y="310896"/>
            <a:ext cx="1417320" cy="329184"/>
          </a:xfrm>
          <a:prstGeom prst="roundRect">
            <a:avLst>
              <a:gd name="adj" fmla="val 41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01 PŘEVZÍT</a:t>
            </a:r>
            <a:endParaRPr lang="en-US" sz="1000" dirty="0"/>
          </a:p>
        </p:txBody>
      </p:sp>
      <p:sp>
        <p:nvSpPr>
          <p:cNvPr id="4" name="Postup 2"/>
          <p:cNvSpPr/>
          <p:nvPr/>
        </p:nvSpPr>
        <p:spPr>
          <a:xfrm>
            <a:off x="7244791" y="310896"/>
            <a:ext cx="1417320" cy="329184"/>
          </a:xfrm>
          <a:prstGeom prst="roundRect">
            <a:avLst>
              <a:gd name="adj" fmla="val 41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02 VYTĚŽIT</a:t>
            </a:r>
            <a:endParaRPr lang="en-US" sz="1000" dirty="0"/>
          </a:p>
        </p:txBody>
      </p:sp>
      <p:sp>
        <p:nvSpPr>
          <p:cNvPr id="5" name="Postup 3"/>
          <p:cNvSpPr/>
          <p:nvPr/>
        </p:nvSpPr>
        <p:spPr>
          <a:xfrm>
            <a:off x="8735263" y="310896"/>
            <a:ext cx="1417320" cy="329184"/>
          </a:xfrm>
          <a:prstGeom prst="roundRect">
            <a:avLst>
              <a:gd name="adj" fmla="val 41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03 KOORDINOVAT</a:t>
            </a:r>
            <a:endParaRPr lang="en-US" sz="1000" dirty="0"/>
          </a:p>
        </p:txBody>
      </p:sp>
      <p:sp>
        <p:nvSpPr>
          <p:cNvPr id="6" name="Postup 4"/>
          <p:cNvSpPr/>
          <p:nvPr/>
        </p:nvSpPr>
        <p:spPr>
          <a:xfrm>
            <a:off x="10225735" y="310896"/>
            <a:ext cx="1417320" cy="329184"/>
          </a:xfrm>
          <a:prstGeom prst="roundRect">
            <a:avLst>
              <a:gd name="adj" fmla="val 41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04 ZPĚTNÁ VAZBA</a:t>
            </a:r>
            <a:endParaRPr lang="en-US" sz="10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13232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Jedno digitální místo pro vstup do KOC</a:t>
            </a:r>
            <a:endParaRPr lang="en-US" sz="3000" dirty="0"/>
          </a:p>
        </p:txBody>
      </p:sp>
      <p:sp>
        <p:nvSpPr>
          <p:cNvPr id="8" name="Podtitul"/>
          <p:cNvSpPr txBox="1"/>
          <p:nvPr/>
        </p:nvSpPr>
        <p:spPr>
          <a:xfrm>
            <a:off x="548640" y="1335024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Externí lékař rychle předá pacienta k dokončení diagnostiky do vybraného centra komplexní péče.</a:t>
            </a:r>
            <a:endParaRPr lang="en-US" sz="15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2996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87552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Externí lékař</a:t>
            </a:r>
            <a:endParaRPr lang="en-US" sz="1500" dirty="0"/>
          </a:p>
        </p:txBody>
      </p:sp>
      <p:sp>
        <p:nvSpPr>
          <p:cNvPr id="11" name="Cesta"/>
          <p:cNvSpPr/>
          <p:nvPr/>
        </p:nvSpPr>
        <p:spPr>
          <a:xfrm>
            <a:off x="914400" y="2798064"/>
            <a:ext cx="914" cy="1353312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ash"/>
          </a:ln>
        </p:spPr>
        <p:txBody>
          <a:bodyPr/>
          <a:lstStyle/>
          <a:p>
            <a:endParaRPr lang="cs-CZ"/>
          </a:p>
        </p:txBody>
      </p:sp>
      <p:sp>
        <p:nvSpPr>
          <p:cNvPr id="12" name="Krok 1"/>
          <p:cNvSpPr/>
          <p:nvPr/>
        </p:nvSpPr>
        <p:spPr>
          <a:xfrm>
            <a:off x="1143000" y="2514600"/>
            <a:ext cx="69951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Číslo 1"/>
          <p:cNvSpPr/>
          <p:nvPr/>
        </p:nvSpPr>
        <p:spPr>
          <a:xfrm>
            <a:off x="713232" y="259689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251460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Vybere KOC</a:t>
            </a:r>
            <a:r>
              <a:rPr lang="en-US" sz="1500" dirty="0">
                <a:solidFill>
                  <a:schemeClr val="tx1"/>
                </a:solidFill>
              </a:rPr>
              <a:t> ze seznamu komplexních center</a:t>
            </a:r>
            <a:endParaRPr lang="en-US" sz="1500" dirty="0"/>
          </a:p>
        </p:txBody>
      </p:sp>
      <p:sp>
        <p:nvSpPr>
          <p:cNvPr id="15" name="Krok 2"/>
          <p:cNvSpPr/>
          <p:nvPr/>
        </p:nvSpPr>
        <p:spPr>
          <a:xfrm>
            <a:off x="1143000" y="3191256"/>
            <a:ext cx="69951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6" name="Číslo 2"/>
          <p:cNvSpPr/>
          <p:nvPr/>
        </p:nvSpPr>
        <p:spPr>
          <a:xfrm>
            <a:off x="713232" y="327355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371600" y="3191256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Vyplní</a:t>
            </a:r>
            <a:r>
              <a:rPr lang="en-US" sz="1500" dirty="0">
                <a:solidFill>
                  <a:schemeClr val="tx1"/>
                </a:solidFill>
              </a:rPr>
              <a:t> svoje údaje + nacionále pacienta, </a:t>
            </a:r>
            <a:r>
              <a:rPr lang="en-US" sz="1500" dirty="0" err="1">
                <a:solidFill>
                  <a:schemeClr val="tx1"/>
                </a:solidFill>
              </a:rPr>
              <a:t>přiloží</a:t>
            </a:r>
            <a:r>
              <a:rPr lang="en-US" sz="1500" dirty="0">
                <a:solidFill>
                  <a:schemeClr val="tx1"/>
                </a:solidFill>
              </a:rPr>
              <a:t> </a:t>
            </a:r>
            <a:r>
              <a:rPr lang="en-US" sz="1500" dirty="0" err="1">
                <a:solidFill>
                  <a:schemeClr val="tx1"/>
                </a:solidFill>
              </a:rPr>
              <a:t>epikrízu</a:t>
            </a:r>
            <a:r>
              <a:rPr lang="en-US" sz="1500" dirty="0">
                <a:solidFill>
                  <a:schemeClr val="tx1"/>
                </a:solidFill>
              </a:rPr>
              <a:t>, suspektní diagnózu</a:t>
            </a:r>
            <a:endParaRPr lang="en-US" sz="1500" dirty="0"/>
          </a:p>
        </p:txBody>
      </p:sp>
      <p:sp>
        <p:nvSpPr>
          <p:cNvPr id="18" name="Krok 3"/>
          <p:cNvSpPr/>
          <p:nvPr/>
        </p:nvSpPr>
        <p:spPr>
          <a:xfrm>
            <a:off x="1143000" y="3867912"/>
            <a:ext cx="69951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9" name="Číslo 3"/>
          <p:cNvSpPr/>
          <p:nvPr/>
        </p:nvSpPr>
        <p:spPr>
          <a:xfrm>
            <a:off x="713232" y="3950208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371600" y="3867912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chemeClr val="tx1"/>
                </a:solidFill>
              </a:rPr>
              <a:t>Nahraje</a:t>
            </a:r>
            <a:r>
              <a:rPr lang="en-US" sz="1500" b="1" dirty="0">
                <a:solidFill>
                  <a:schemeClr val="tx1"/>
                </a:solidFill>
              </a:rPr>
              <a:t> </a:t>
            </a:r>
            <a:r>
              <a:rPr lang="en-US" sz="1500" b="1" dirty="0" err="1">
                <a:solidFill>
                  <a:schemeClr val="tx1"/>
                </a:solidFill>
              </a:rPr>
              <a:t>zprávy</a:t>
            </a:r>
            <a:r>
              <a:rPr lang="en-US" sz="1500" dirty="0">
                <a:solidFill>
                  <a:schemeClr val="tx1"/>
                </a:solidFill>
              </a:rPr>
              <a:t> z vlastního ambulantního softwaru</a:t>
            </a:r>
            <a:endParaRPr lang="en-US" sz="15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4498848"/>
            <a:ext cx="310896" cy="310896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143000" y="447141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Koordinátor KOC </a:t>
            </a:r>
            <a:r>
              <a:rPr lang="en-US" sz="1500" dirty="0">
                <a:solidFill>
                  <a:schemeClr val="tx1"/>
                </a:solidFill>
              </a:rPr>
              <a:t>dostane případ v jednom kroku</a:t>
            </a:r>
            <a:endParaRPr lang="en-US" sz="1500" dirty="0"/>
          </a:p>
        </p:txBody>
      </p:sp>
      <p:sp>
        <p:nvSpPr>
          <p:cNvPr id="23" name="Pro lékaře"/>
          <p:cNvSpPr/>
          <p:nvPr/>
        </p:nvSpPr>
        <p:spPr>
          <a:xfrm>
            <a:off x="548640" y="5074920"/>
            <a:ext cx="36576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4" name="Text 20"/>
          <p:cNvSpPr txBox="1"/>
          <p:nvPr/>
        </p:nvSpPr>
        <p:spPr>
          <a:xfrm>
            <a:off x="731520" y="5184648"/>
            <a:ext cx="32918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Pro lékaře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Minimum ruční administrativy + jednoduché předání pacienta</a:t>
            </a:r>
            <a:endParaRPr lang="en-US" sz="1300" dirty="0"/>
          </a:p>
        </p:txBody>
      </p:sp>
      <p:sp>
        <p:nvSpPr>
          <p:cNvPr id="25" name="Pro koordinátora"/>
          <p:cNvSpPr/>
          <p:nvPr/>
        </p:nvSpPr>
        <p:spPr>
          <a:xfrm>
            <a:off x="4480560" y="5074920"/>
            <a:ext cx="36576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6" name="Text 22"/>
          <p:cNvSpPr txBox="1"/>
          <p:nvPr/>
        </p:nvSpPr>
        <p:spPr>
          <a:xfrm>
            <a:off x="4663440" y="5184648"/>
            <a:ext cx="32918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Pro koordinátora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Dostane všechny potřebné informace v jednom kroku</a:t>
            </a:r>
            <a:endParaRPr lang="en-US" sz="1300" dirty="0"/>
          </a:p>
        </p:txBody>
      </p:sp>
      <p:sp>
        <p:nvSpPr>
          <p:cNvPr id="27" name="Váš úkol"/>
          <p:cNvSpPr/>
          <p:nvPr/>
        </p:nvSpPr>
        <p:spPr>
          <a:xfrm>
            <a:off x="8458200" y="2011680"/>
            <a:ext cx="3184855" cy="4023360"/>
          </a:xfrm>
          <a:prstGeom prst="roundRect">
            <a:avLst>
              <a:gd name="adj" fmla="val 2297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2231136"/>
            <a:ext cx="292608" cy="292608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9052560" y="2212848"/>
            <a:ext cx="23618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chemeClr val="accent1"/>
                </a:solidFill>
              </a:rPr>
              <a:t>VÁŠ ÚKOL</a:t>
            </a:r>
            <a:endParaRPr lang="en-US" sz="1400" dirty="0"/>
          </a:p>
        </p:txBody>
      </p:sp>
      <p:sp>
        <p:nvSpPr>
          <p:cNvPr id="30" name="Úkoly"/>
          <p:cNvSpPr txBox="1"/>
          <p:nvPr/>
        </p:nvSpPr>
        <p:spPr>
          <a:xfrm>
            <a:off x="8641080" y="2651760"/>
            <a:ext cx="281909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chemeClr val="tx1"/>
                </a:solidFill>
              </a:rPr>
              <a:t>Navrhněte vstupní obrazovku pro referování pacienta do vybraného KOC.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chemeClr val="tx1"/>
                </a:solidFill>
              </a:rPr>
              <a:t>Ruční vyplňování omezte na minimum – ostatní převezměte z nahrané zprávy.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chemeClr val="tx1"/>
                </a:solidFill>
              </a:rPr>
              <a:t>Nevytvářejte další rozsáhlý formulář.</a:t>
            </a:r>
            <a:endParaRPr lang="en-US" sz="1300" dirty="0"/>
          </a:p>
        </p:txBody>
      </p:sp>
      <p:sp>
        <p:nvSpPr>
          <p:cNvPr id="31" name="Hotovo, když"/>
          <p:cNvSpPr/>
          <p:nvPr/>
        </p:nvSpPr>
        <p:spPr>
          <a:xfrm>
            <a:off x="8641080" y="4937760"/>
            <a:ext cx="2819095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2" name="Text 27"/>
          <p:cNvSpPr txBox="1"/>
          <p:nvPr/>
        </p:nvSpPr>
        <p:spPr>
          <a:xfrm>
            <a:off x="8778240" y="5029200"/>
            <a:ext cx="2544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kern="0" spc="100" dirty="0">
                <a:solidFill>
                  <a:schemeClr val="accent1"/>
                </a:solidFill>
              </a:rPr>
              <a:t>HOTOVO, KDYŽ…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Koordinátor dostane všechny potřebné informace o pacientovi v jednom kroku.</a:t>
            </a:r>
            <a:endParaRPr lang="en-US" sz="11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4747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kce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1"/>
                </a:solidFill>
              </a:rPr>
              <a:t>VÝZVA  ·  AI ZPRACOVÁNÍ</a:t>
            </a:r>
            <a:endParaRPr lang="en-US" sz="1100" dirty="0"/>
          </a:p>
        </p:txBody>
      </p:sp>
      <p:sp>
        <p:nvSpPr>
          <p:cNvPr id="3" name="Postup 1"/>
          <p:cNvSpPr/>
          <p:nvPr/>
        </p:nvSpPr>
        <p:spPr>
          <a:xfrm>
            <a:off x="5754319" y="310896"/>
            <a:ext cx="1417320" cy="329184"/>
          </a:xfrm>
          <a:prstGeom prst="roundRect">
            <a:avLst>
              <a:gd name="adj" fmla="val 41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01 PŘEVZÍT</a:t>
            </a:r>
            <a:endParaRPr lang="en-US" sz="1000" dirty="0"/>
          </a:p>
        </p:txBody>
      </p:sp>
      <p:sp>
        <p:nvSpPr>
          <p:cNvPr id="4" name="Postup 2"/>
          <p:cNvSpPr/>
          <p:nvPr/>
        </p:nvSpPr>
        <p:spPr>
          <a:xfrm>
            <a:off x="7244791" y="310896"/>
            <a:ext cx="1417320" cy="329184"/>
          </a:xfrm>
          <a:prstGeom prst="roundRect">
            <a:avLst>
              <a:gd name="adj" fmla="val 41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02 VYTĚŽIT</a:t>
            </a:r>
            <a:endParaRPr lang="en-US" sz="1000" dirty="0"/>
          </a:p>
        </p:txBody>
      </p:sp>
      <p:sp>
        <p:nvSpPr>
          <p:cNvPr id="5" name="Postup 3"/>
          <p:cNvSpPr/>
          <p:nvPr/>
        </p:nvSpPr>
        <p:spPr>
          <a:xfrm>
            <a:off x="8735263" y="310896"/>
            <a:ext cx="1417320" cy="329184"/>
          </a:xfrm>
          <a:prstGeom prst="roundRect">
            <a:avLst>
              <a:gd name="adj" fmla="val 41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03 KOORDINOVAT</a:t>
            </a:r>
            <a:endParaRPr lang="en-US" sz="1000" dirty="0"/>
          </a:p>
        </p:txBody>
      </p:sp>
      <p:sp>
        <p:nvSpPr>
          <p:cNvPr id="6" name="Postup 4"/>
          <p:cNvSpPr/>
          <p:nvPr/>
        </p:nvSpPr>
        <p:spPr>
          <a:xfrm>
            <a:off x="10225735" y="310896"/>
            <a:ext cx="1417320" cy="329184"/>
          </a:xfrm>
          <a:prstGeom prst="roundRect">
            <a:avLst>
              <a:gd name="adj" fmla="val 41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04 ZPĚTNÁ VAZBA</a:t>
            </a:r>
            <a:endParaRPr lang="en-US" sz="10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13232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AI vytvoří strukturovaný handover</a:t>
            </a:r>
            <a:endParaRPr lang="en-US" sz="3000" dirty="0"/>
          </a:p>
        </p:txBody>
      </p:sp>
      <p:sp>
        <p:nvSpPr>
          <p:cNvPr id="8" name="Podtitul"/>
          <p:cNvSpPr txBox="1"/>
          <p:nvPr/>
        </p:nvSpPr>
        <p:spPr>
          <a:xfrm>
            <a:off x="548640" y="1335024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Software dokumentaci vytěží a koordinátor dostane kompletní kontext v použitelné podobě.</a:t>
            </a:r>
            <a:endParaRPr lang="en-US" sz="1500" dirty="0"/>
          </a:p>
        </p:txBody>
      </p:sp>
      <p:sp>
        <p:nvSpPr>
          <p:cNvPr id="9" name="Krok 1"/>
          <p:cNvSpPr/>
          <p:nvPr/>
        </p:nvSpPr>
        <p:spPr>
          <a:xfrm>
            <a:off x="548640" y="2011680"/>
            <a:ext cx="1298448" cy="2331720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658368" y="2148840"/>
            <a:ext cx="1078992" cy="274320"/>
          </a:xfrm>
          <a:prstGeom prst="roundRect">
            <a:avLst>
              <a:gd name="adj" fmla="val 33333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EXT. LÉKAŘ</a:t>
            </a:r>
            <a:endParaRPr lang="en-US" sz="9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606040"/>
            <a:ext cx="457200" cy="4572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40080" y="3200400"/>
            <a:ext cx="1115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chemeClr val="tx1"/>
                </a:solidFill>
              </a:rPr>
              <a:t>Vstup: informace od externího lékaře</a:t>
            </a:r>
            <a:endParaRPr lang="en-US" sz="1250" dirty="0"/>
          </a:p>
        </p:txBody>
      </p:sp>
      <p:sp>
        <p:nvSpPr>
          <p:cNvPr id="13" name="Šipka"/>
          <p:cNvSpPr/>
          <p:nvPr/>
        </p:nvSpPr>
        <p:spPr>
          <a:xfrm>
            <a:off x="1883664" y="3177540"/>
            <a:ext cx="201168" cy="91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14" name="Krok 2"/>
          <p:cNvSpPr/>
          <p:nvPr/>
        </p:nvSpPr>
        <p:spPr>
          <a:xfrm>
            <a:off x="2121408" y="2011680"/>
            <a:ext cx="1298448" cy="2331720"/>
          </a:xfrm>
          <a:prstGeom prst="roundRect">
            <a:avLst>
              <a:gd name="adj" fmla="val 5634"/>
            </a:avLst>
          </a:prstGeom>
          <a:solidFill>
            <a:srgbClr val="E6F3F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5" name="Text 12"/>
          <p:cNvSpPr/>
          <p:nvPr/>
        </p:nvSpPr>
        <p:spPr>
          <a:xfrm>
            <a:off x="2231136" y="2148840"/>
            <a:ext cx="1078992" cy="274320"/>
          </a:xfrm>
          <a:prstGeom prst="roundRect">
            <a:avLst>
              <a:gd name="adj" fmla="val 33333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AI</a:t>
            </a:r>
            <a:endParaRPr lang="en-US" sz="95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2032" y="260604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212848" y="3200400"/>
            <a:ext cx="1115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chemeClr val="tx1"/>
                </a:solidFill>
              </a:rPr>
              <a:t>AI extrakce a roztřídění klinických informací</a:t>
            </a:r>
            <a:endParaRPr lang="en-US" sz="1250" dirty="0"/>
          </a:p>
        </p:txBody>
      </p:sp>
      <p:sp>
        <p:nvSpPr>
          <p:cNvPr id="18" name="Šipka"/>
          <p:cNvSpPr/>
          <p:nvPr/>
        </p:nvSpPr>
        <p:spPr>
          <a:xfrm>
            <a:off x="3456432" y="3177540"/>
            <a:ext cx="201168" cy="91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19" name="Krok 3"/>
          <p:cNvSpPr/>
          <p:nvPr/>
        </p:nvSpPr>
        <p:spPr>
          <a:xfrm>
            <a:off x="3694176" y="2011680"/>
            <a:ext cx="1298448" cy="2331720"/>
          </a:xfrm>
          <a:prstGeom prst="roundRect">
            <a:avLst>
              <a:gd name="adj" fmla="val 5634"/>
            </a:avLst>
          </a:prstGeom>
          <a:solidFill>
            <a:srgbClr val="E6F3F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0" name="Text 16"/>
          <p:cNvSpPr/>
          <p:nvPr/>
        </p:nvSpPr>
        <p:spPr>
          <a:xfrm>
            <a:off x="3803904" y="2148840"/>
            <a:ext cx="1078992" cy="274320"/>
          </a:xfrm>
          <a:prstGeom prst="roundRect">
            <a:avLst>
              <a:gd name="adj" fmla="val 33333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AI</a:t>
            </a:r>
            <a:endParaRPr lang="en-US" sz="95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260604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3785616" y="3200400"/>
            <a:ext cx="1115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chemeClr val="tx1"/>
                </a:solidFill>
              </a:rPr>
              <a:t>Předem definovaná struktura, kopírovatelné části</a:t>
            </a:r>
            <a:endParaRPr lang="en-US" sz="1250" dirty="0"/>
          </a:p>
        </p:txBody>
      </p:sp>
      <p:sp>
        <p:nvSpPr>
          <p:cNvPr id="23" name="Šipka"/>
          <p:cNvSpPr/>
          <p:nvPr/>
        </p:nvSpPr>
        <p:spPr>
          <a:xfrm>
            <a:off x="5029200" y="3177540"/>
            <a:ext cx="201168" cy="91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24" name="Krok 4"/>
          <p:cNvSpPr/>
          <p:nvPr/>
        </p:nvSpPr>
        <p:spPr>
          <a:xfrm>
            <a:off x="5266944" y="2011680"/>
            <a:ext cx="1298448" cy="2331720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5" name="Text 20"/>
          <p:cNvSpPr/>
          <p:nvPr/>
        </p:nvSpPr>
        <p:spPr>
          <a:xfrm>
            <a:off x="5376672" y="2148840"/>
            <a:ext cx="1078992" cy="274320"/>
          </a:xfrm>
          <a:prstGeom prst="roundRect">
            <a:avLst>
              <a:gd name="adj" fmla="val 33333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LÉKAŘ</a:t>
            </a:r>
            <a:endParaRPr lang="en-US" sz="95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7568" y="2606040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5358384" y="3200400"/>
            <a:ext cx="1115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chemeClr val="tx1"/>
                </a:solidFill>
              </a:rPr>
              <a:t>Validace lékařem a odeslání</a:t>
            </a:r>
            <a:endParaRPr lang="en-US" sz="1250" dirty="0"/>
          </a:p>
        </p:txBody>
      </p:sp>
      <p:sp>
        <p:nvSpPr>
          <p:cNvPr id="28" name="Šipka"/>
          <p:cNvSpPr/>
          <p:nvPr/>
        </p:nvSpPr>
        <p:spPr>
          <a:xfrm>
            <a:off x="6601968" y="3177540"/>
            <a:ext cx="201168" cy="91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29" name="Krok 5"/>
          <p:cNvSpPr/>
          <p:nvPr/>
        </p:nvSpPr>
        <p:spPr>
          <a:xfrm>
            <a:off x="6839712" y="2011680"/>
            <a:ext cx="1298448" cy="2331720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0" name="Text 24"/>
          <p:cNvSpPr/>
          <p:nvPr/>
        </p:nvSpPr>
        <p:spPr>
          <a:xfrm>
            <a:off x="6949440" y="2148840"/>
            <a:ext cx="1078992" cy="274320"/>
          </a:xfrm>
          <a:prstGeom prst="roundRect">
            <a:avLst>
              <a:gd name="adj" fmla="val 33333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KOORDINÁTOR</a:t>
            </a:r>
            <a:endParaRPr lang="en-US" sz="95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0336" y="2606040"/>
            <a:ext cx="457200" cy="4572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6931152" y="3200400"/>
            <a:ext cx="1115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chemeClr val="tx1"/>
                </a:solidFill>
              </a:rPr>
              <a:t>Kompletní kontext v použitelné podobě</a:t>
            </a:r>
            <a:endParaRPr lang="en-US" sz="1250" dirty="0"/>
          </a:p>
        </p:txBody>
      </p:sp>
      <p:sp>
        <p:nvSpPr>
          <p:cNvPr id="33" name="Text 26"/>
          <p:cNvSpPr txBox="1"/>
          <p:nvPr/>
        </p:nvSpPr>
        <p:spPr>
          <a:xfrm>
            <a:off x="548640" y="44805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4"/>
                </a:solidFill>
              </a:rPr>
              <a:t>AI pouze připraví návrh</a:t>
            </a:r>
            <a:r>
              <a:rPr lang="en-US" sz="1400" dirty="0">
                <a:solidFill>
                  <a:schemeClr val="tx2"/>
                </a:solidFill>
              </a:rPr>
              <a:t>  →  </a:t>
            </a:r>
            <a:r>
              <a:rPr lang="en-US" sz="1400" b="1" dirty="0">
                <a:solidFill>
                  <a:schemeClr val="accent1"/>
                </a:solidFill>
              </a:rPr>
              <a:t>rozhoduje a potvrzuje člověk</a:t>
            </a:r>
            <a:endParaRPr lang="en-US" sz="1400" dirty="0"/>
          </a:p>
        </p:txBody>
      </p:sp>
      <p:sp>
        <p:nvSpPr>
          <p:cNvPr id="34" name="Kontrola údajů"/>
          <p:cNvSpPr/>
          <p:nvPr/>
        </p:nvSpPr>
        <p:spPr>
          <a:xfrm>
            <a:off x="548640" y="4983480"/>
            <a:ext cx="365760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5" name="Text 28"/>
          <p:cNvSpPr txBox="1"/>
          <p:nvPr/>
        </p:nvSpPr>
        <p:spPr>
          <a:xfrm>
            <a:off x="731520" y="5093208"/>
            <a:ext cx="32918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Kontrola údajů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AI pouze připraví návrh; lékař validuje strukturovaný obsah.</a:t>
            </a:r>
            <a:endParaRPr lang="en-US" sz="1300" dirty="0"/>
          </a:p>
        </p:txBody>
      </p:sp>
      <p:sp>
        <p:nvSpPr>
          <p:cNvPr id="36" name="Komunikace s lékařem"/>
          <p:cNvSpPr/>
          <p:nvPr/>
        </p:nvSpPr>
        <p:spPr>
          <a:xfrm>
            <a:off x="4480560" y="4983480"/>
            <a:ext cx="365760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7" name="Text 30"/>
          <p:cNvSpPr txBox="1"/>
          <p:nvPr/>
        </p:nvSpPr>
        <p:spPr>
          <a:xfrm>
            <a:off x="4663440" y="5093208"/>
            <a:ext cx="32918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Komunikace s lékařem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Koordinátor může přes SW kontaktovat lékaře a vyžádat si doplňující informace.</a:t>
            </a:r>
            <a:endParaRPr lang="en-US" sz="1300" dirty="0"/>
          </a:p>
        </p:txBody>
      </p:sp>
      <p:sp>
        <p:nvSpPr>
          <p:cNvPr id="38" name="Váš úkol"/>
          <p:cNvSpPr/>
          <p:nvPr/>
        </p:nvSpPr>
        <p:spPr>
          <a:xfrm>
            <a:off x="8458200" y="2011680"/>
            <a:ext cx="3184855" cy="4023360"/>
          </a:xfrm>
          <a:prstGeom prst="roundRect">
            <a:avLst>
              <a:gd name="adj" fmla="val 2297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0" y="2231136"/>
            <a:ext cx="292608" cy="292608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9052560" y="2212848"/>
            <a:ext cx="23618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chemeClr val="accent1"/>
                </a:solidFill>
              </a:rPr>
              <a:t>VÁŠ ÚKOL</a:t>
            </a:r>
            <a:endParaRPr lang="en-US" sz="1400" dirty="0"/>
          </a:p>
        </p:txBody>
      </p:sp>
      <p:sp>
        <p:nvSpPr>
          <p:cNvPr id="41" name="Úkoly"/>
          <p:cNvSpPr txBox="1"/>
          <p:nvPr/>
        </p:nvSpPr>
        <p:spPr>
          <a:xfrm>
            <a:off x="8641080" y="2651760"/>
            <a:ext cx="281909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chemeClr val="tx1"/>
                </a:solidFill>
              </a:rPr>
              <a:t>Z nahrané dokumentace automaticky vytěžte klíčové údaje do předem definované struktury.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chemeClr val="tx1"/>
                </a:solidFill>
              </a:rPr>
              <a:t>Odhalte a označte, co v dokumentaci chybí.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chemeClr val="tx1"/>
                </a:solidFill>
              </a:rPr>
              <a:t>Výstup připravte v kopírovatelných částech.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chemeClr val="tx1"/>
                </a:solidFill>
              </a:rPr>
              <a:t>Lékař návrh zkontroluje a potvrdí.</a:t>
            </a:r>
            <a:endParaRPr lang="en-US" sz="1300" dirty="0"/>
          </a:p>
        </p:txBody>
      </p:sp>
      <p:sp>
        <p:nvSpPr>
          <p:cNvPr id="42" name="Hotovo, když"/>
          <p:cNvSpPr/>
          <p:nvPr/>
        </p:nvSpPr>
        <p:spPr>
          <a:xfrm>
            <a:off x="8641080" y="4937760"/>
            <a:ext cx="2819095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3" name="Text 35"/>
          <p:cNvSpPr txBox="1"/>
          <p:nvPr/>
        </p:nvSpPr>
        <p:spPr>
          <a:xfrm>
            <a:off x="8778240" y="5029200"/>
            <a:ext cx="2544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kern="0" spc="100" dirty="0">
                <a:solidFill>
                  <a:schemeClr val="accent1"/>
                </a:solidFill>
              </a:rPr>
              <a:t>HOTOVO, KDYŽ…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Koordinátor vidí lékařem potvrzený strukturovaný handover i seznam chybějících údajů.</a:t>
            </a:r>
            <a:endParaRPr lang="en-US" sz="11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4747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kce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1"/>
                </a:solidFill>
              </a:rPr>
              <a:t>VÝZVA  ·  DASHBOARD KOC</a:t>
            </a:r>
            <a:endParaRPr lang="en-US" sz="1100" dirty="0"/>
          </a:p>
        </p:txBody>
      </p:sp>
      <p:sp>
        <p:nvSpPr>
          <p:cNvPr id="3" name="Postup 1"/>
          <p:cNvSpPr/>
          <p:nvPr/>
        </p:nvSpPr>
        <p:spPr>
          <a:xfrm>
            <a:off x="5754319" y="310896"/>
            <a:ext cx="1417320" cy="329184"/>
          </a:xfrm>
          <a:prstGeom prst="roundRect">
            <a:avLst>
              <a:gd name="adj" fmla="val 41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01 PŘEVZÍT</a:t>
            </a:r>
            <a:endParaRPr lang="en-US" sz="1000" dirty="0"/>
          </a:p>
        </p:txBody>
      </p:sp>
      <p:sp>
        <p:nvSpPr>
          <p:cNvPr id="4" name="Postup 2"/>
          <p:cNvSpPr/>
          <p:nvPr/>
        </p:nvSpPr>
        <p:spPr>
          <a:xfrm>
            <a:off x="7244791" y="310896"/>
            <a:ext cx="1417320" cy="329184"/>
          </a:xfrm>
          <a:prstGeom prst="roundRect">
            <a:avLst>
              <a:gd name="adj" fmla="val 41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02 VYTĚŽIT</a:t>
            </a:r>
            <a:endParaRPr lang="en-US" sz="1000" dirty="0"/>
          </a:p>
        </p:txBody>
      </p:sp>
      <p:sp>
        <p:nvSpPr>
          <p:cNvPr id="5" name="Postup 3"/>
          <p:cNvSpPr/>
          <p:nvPr/>
        </p:nvSpPr>
        <p:spPr>
          <a:xfrm>
            <a:off x="8735263" y="310896"/>
            <a:ext cx="1417320" cy="329184"/>
          </a:xfrm>
          <a:prstGeom prst="roundRect">
            <a:avLst>
              <a:gd name="adj" fmla="val 41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03 KOORDINOVAT</a:t>
            </a:r>
            <a:endParaRPr lang="en-US" sz="1000" dirty="0"/>
          </a:p>
        </p:txBody>
      </p:sp>
      <p:sp>
        <p:nvSpPr>
          <p:cNvPr id="6" name="Postup 4"/>
          <p:cNvSpPr/>
          <p:nvPr/>
        </p:nvSpPr>
        <p:spPr>
          <a:xfrm>
            <a:off x="10225735" y="310896"/>
            <a:ext cx="1417320" cy="329184"/>
          </a:xfrm>
          <a:prstGeom prst="roundRect">
            <a:avLst>
              <a:gd name="adj" fmla="val 41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04 ZPĚTNÁ VAZBA</a:t>
            </a:r>
            <a:endParaRPr lang="en-US" sz="10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13232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Dashboard koordinátora: pacienti, priority, úkoly</a:t>
            </a:r>
            <a:endParaRPr lang="en-US" sz="3000" dirty="0"/>
          </a:p>
        </p:txBody>
      </p:sp>
      <p:sp>
        <p:nvSpPr>
          <p:cNvPr id="8" name="Podtitul"/>
          <p:cNvSpPr txBox="1"/>
          <p:nvPr/>
        </p:nvSpPr>
        <p:spPr>
          <a:xfrm>
            <a:off x="548640" y="1335024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Každý nový referovaný pacient přistane v dashboardu příslušného KOC s kontextem a dalšími kroky.</a:t>
            </a:r>
            <a:endParaRPr lang="en-US" sz="1500" dirty="0"/>
          </a:p>
        </p:txBody>
      </p:sp>
      <p:sp>
        <p:nvSpPr>
          <p:cNvPr id="9" name="Rámec dashboardu"/>
          <p:cNvSpPr/>
          <p:nvPr/>
        </p:nvSpPr>
        <p:spPr>
          <a:xfrm>
            <a:off x="548640" y="2011680"/>
            <a:ext cx="7589520" cy="402336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9456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43000" y="216712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Pracovní fronta koordinátora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7240" y="2651760"/>
            <a:ext cx="1481328" cy="347472"/>
          </a:xfrm>
          <a:prstGeom prst="roundRect">
            <a:avLst>
              <a:gd name="adj" fmla="val 2631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bg1"/>
                </a:solidFill>
              </a:rPr>
              <a:t>Nový pacient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035808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2"/>
                </a:solidFill>
              </a:rPr>
              <a:t>čeká na převzetí</a:t>
            </a:r>
            <a:endParaRPr lang="en-US" sz="1050" dirty="0"/>
          </a:p>
        </p:txBody>
      </p:sp>
      <p:sp>
        <p:nvSpPr>
          <p:cNvPr id="14" name="Sloupec"/>
          <p:cNvSpPr/>
          <p:nvPr/>
        </p:nvSpPr>
        <p:spPr>
          <a:xfrm>
            <a:off x="777240" y="3383280"/>
            <a:ext cx="1481328" cy="242316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5" name="Karta pacienta"/>
          <p:cNvSpPr/>
          <p:nvPr/>
        </p:nvSpPr>
        <p:spPr>
          <a:xfrm>
            <a:off x="868680" y="3493008"/>
            <a:ext cx="1298448" cy="64008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Řádek"/>
          <p:cNvSpPr/>
          <p:nvPr/>
        </p:nvSpPr>
        <p:spPr>
          <a:xfrm>
            <a:off x="960120" y="3630168"/>
            <a:ext cx="932688" cy="91440"/>
          </a:xfrm>
          <a:prstGeom prst="rect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Řádek"/>
          <p:cNvSpPr/>
          <p:nvPr/>
        </p:nvSpPr>
        <p:spPr>
          <a:xfrm>
            <a:off x="960120" y="3813048"/>
            <a:ext cx="658368" cy="73152"/>
          </a:xfrm>
          <a:prstGeom prst="rect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Priorita"/>
          <p:cNvSpPr/>
          <p:nvPr/>
        </p:nvSpPr>
        <p:spPr>
          <a:xfrm>
            <a:off x="1911096" y="3877056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9" name="Karta pacienta"/>
          <p:cNvSpPr/>
          <p:nvPr/>
        </p:nvSpPr>
        <p:spPr>
          <a:xfrm>
            <a:off x="868680" y="4242816"/>
            <a:ext cx="1298448" cy="64008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0" name="Řádek"/>
          <p:cNvSpPr/>
          <p:nvPr/>
        </p:nvSpPr>
        <p:spPr>
          <a:xfrm>
            <a:off x="960120" y="4379976"/>
            <a:ext cx="932688" cy="91440"/>
          </a:xfrm>
          <a:prstGeom prst="rect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1" name="Řádek"/>
          <p:cNvSpPr/>
          <p:nvPr/>
        </p:nvSpPr>
        <p:spPr>
          <a:xfrm>
            <a:off x="960120" y="4562856"/>
            <a:ext cx="658368" cy="73152"/>
          </a:xfrm>
          <a:prstGeom prst="rect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2" name="Priorita"/>
          <p:cNvSpPr/>
          <p:nvPr/>
        </p:nvSpPr>
        <p:spPr>
          <a:xfrm>
            <a:off x="1911096" y="4626864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3" name="Karta pacienta"/>
          <p:cNvSpPr/>
          <p:nvPr/>
        </p:nvSpPr>
        <p:spPr>
          <a:xfrm>
            <a:off x="868680" y="4992624"/>
            <a:ext cx="1298448" cy="64008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4" name="Řádek"/>
          <p:cNvSpPr/>
          <p:nvPr/>
        </p:nvSpPr>
        <p:spPr>
          <a:xfrm>
            <a:off x="960120" y="5129784"/>
            <a:ext cx="932688" cy="91440"/>
          </a:xfrm>
          <a:prstGeom prst="rect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5" name="Řádek"/>
          <p:cNvSpPr/>
          <p:nvPr/>
        </p:nvSpPr>
        <p:spPr>
          <a:xfrm>
            <a:off x="960120" y="5312664"/>
            <a:ext cx="658368" cy="73152"/>
          </a:xfrm>
          <a:prstGeom prst="rect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6" name="Priorita"/>
          <p:cNvSpPr/>
          <p:nvPr/>
        </p:nvSpPr>
        <p:spPr>
          <a:xfrm>
            <a:off x="1911096" y="5376672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7" name="Text 24"/>
          <p:cNvSpPr/>
          <p:nvPr/>
        </p:nvSpPr>
        <p:spPr>
          <a:xfrm>
            <a:off x="2368296" y="2651760"/>
            <a:ext cx="1481328" cy="347472"/>
          </a:xfrm>
          <a:prstGeom prst="roundRect">
            <a:avLst>
              <a:gd name="adj" fmla="val 26316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bg1"/>
                </a:solidFill>
              </a:rPr>
              <a:t>Aktivní pacient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2368296" y="3035808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2"/>
                </a:solidFill>
              </a:rPr>
              <a:t>probíhá diagnostika</a:t>
            </a:r>
            <a:endParaRPr lang="en-US" sz="1050" dirty="0"/>
          </a:p>
        </p:txBody>
      </p:sp>
      <p:sp>
        <p:nvSpPr>
          <p:cNvPr id="29" name="Sloupec"/>
          <p:cNvSpPr/>
          <p:nvPr/>
        </p:nvSpPr>
        <p:spPr>
          <a:xfrm>
            <a:off x="2368296" y="3383280"/>
            <a:ext cx="1481328" cy="242316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0" name="Karta pacienta"/>
          <p:cNvSpPr/>
          <p:nvPr/>
        </p:nvSpPr>
        <p:spPr>
          <a:xfrm>
            <a:off x="2459736" y="3493008"/>
            <a:ext cx="1298448" cy="64008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1" name="Řádek"/>
          <p:cNvSpPr/>
          <p:nvPr/>
        </p:nvSpPr>
        <p:spPr>
          <a:xfrm>
            <a:off x="2551176" y="3630168"/>
            <a:ext cx="932688" cy="91440"/>
          </a:xfrm>
          <a:prstGeom prst="rect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2" name="Řádek"/>
          <p:cNvSpPr/>
          <p:nvPr/>
        </p:nvSpPr>
        <p:spPr>
          <a:xfrm>
            <a:off x="2551176" y="3813048"/>
            <a:ext cx="658368" cy="73152"/>
          </a:xfrm>
          <a:prstGeom prst="rect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3" name="Priorita"/>
          <p:cNvSpPr/>
          <p:nvPr/>
        </p:nvSpPr>
        <p:spPr>
          <a:xfrm>
            <a:off x="3502152" y="3877056"/>
            <a:ext cx="146304" cy="146304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4" name="Karta pacienta"/>
          <p:cNvSpPr/>
          <p:nvPr/>
        </p:nvSpPr>
        <p:spPr>
          <a:xfrm>
            <a:off x="2459736" y="4242816"/>
            <a:ext cx="1298448" cy="64008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5" name="Řádek"/>
          <p:cNvSpPr/>
          <p:nvPr/>
        </p:nvSpPr>
        <p:spPr>
          <a:xfrm>
            <a:off x="2551176" y="4379976"/>
            <a:ext cx="932688" cy="91440"/>
          </a:xfrm>
          <a:prstGeom prst="rect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6" name="Řádek"/>
          <p:cNvSpPr/>
          <p:nvPr/>
        </p:nvSpPr>
        <p:spPr>
          <a:xfrm>
            <a:off x="2551176" y="4562856"/>
            <a:ext cx="658368" cy="73152"/>
          </a:xfrm>
          <a:prstGeom prst="rect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7" name="Priorita"/>
          <p:cNvSpPr/>
          <p:nvPr/>
        </p:nvSpPr>
        <p:spPr>
          <a:xfrm>
            <a:off x="3502152" y="4626864"/>
            <a:ext cx="146304" cy="146304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8" name="Text 35"/>
          <p:cNvSpPr/>
          <p:nvPr/>
        </p:nvSpPr>
        <p:spPr>
          <a:xfrm>
            <a:off x="3959352" y="2651760"/>
            <a:ext cx="1481328" cy="347472"/>
          </a:xfrm>
          <a:prstGeom prst="roundRect">
            <a:avLst>
              <a:gd name="adj" fmla="val 2631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bg1"/>
                </a:solidFill>
              </a:rPr>
              <a:t>Odložený pacient</a:t>
            </a:r>
            <a:endParaRPr lang="en-US" sz="1150" dirty="0"/>
          </a:p>
        </p:txBody>
      </p:sp>
      <p:sp>
        <p:nvSpPr>
          <p:cNvPr id="39" name="Text 36"/>
          <p:cNvSpPr txBox="1"/>
          <p:nvPr/>
        </p:nvSpPr>
        <p:spPr>
          <a:xfrm>
            <a:off x="3959352" y="3035808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2"/>
                </a:solidFill>
              </a:rPr>
              <a:t>čeká na externí krok</a:t>
            </a:r>
            <a:endParaRPr lang="en-US" sz="1050" dirty="0"/>
          </a:p>
        </p:txBody>
      </p:sp>
      <p:sp>
        <p:nvSpPr>
          <p:cNvPr id="40" name="Sloupec"/>
          <p:cNvSpPr/>
          <p:nvPr/>
        </p:nvSpPr>
        <p:spPr>
          <a:xfrm>
            <a:off x="3959352" y="3383280"/>
            <a:ext cx="1481328" cy="242316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1" name="Karta pacienta"/>
          <p:cNvSpPr/>
          <p:nvPr/>
        </p:nvSpPr>
        <p:spPr>
          <a:xfrm>
            <a:off x="4050792" y="3493008"/>
            <a:ext cx="1298448" cy="64008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2" name="Řádek"/>
          <p:cNvSpPr/>
          <p:nvPr/>
        </p:nvSpPr>
        <p:spPr>
          <a:xfrm>
            <a:off x="4142232" y="3630168"/>
            <a:ext cx="932688" cy="91440"/>
          </a:xfrm>
          <a:prstGeom prst="rect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3" name="Řádek"/>
          <p:cNvSpPr/>
          <p:nvPr/>
        </p:nvSpPr>
        <p:spPr>
          <a:xfrm>
            <a:off x="4142232" y="3813048"/>
            <a:ext cx="658368" cy="73152"/>
          </a:xfrm>
          <a:prstGeom prst="rect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4" name="Priorita"/>
          <p:cNvSpPr/>
          <p:nvPr/>
        </p:nvSpPr>
        <p:spPr>
          <a:xfrm>
            <a:off x="5093208" y="3877056"/>
            <a:ext cx="146304" cy="146304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5" name="Shape 42"/>
          <p:cNvSpPr/>
          <p:nvPr/>
        </p:nvSpPr>
        <p:spPr>
          <a:xfrm>
            <a:off x="5532120" y="2651760"/>
            <a:ext cx="914" cy="315468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6" name="Text 43"/>
          <p:cNvSpPr/>
          <p:nvPr/>
        </p:nvSpPr>
        <p:spPr>
          <a:xfrm>
            <a:off x="5641848" y="2651760"/>
            <a:ext cx="2267712" cy="347472"/>
          </a:xfrm>
          <a:prstGeom prst="roundRect">
            <a:avLst>
              <a:gd name="adj" fmla="val 2631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accent1"/>
                </a:solidFill>
              </a:rPr>
              <a:t>Detail pacienta</a:t>
            </a:r>
            <a:endParaRPr lang="en-US" sz="1150" dirty="0"/>
          </a:p>
        </p:txBody>
      </p:sp>
      <p:pic>
        <p:nvPicPr>
          <p:cNvPr id="4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1848" y="3236976"/>
            <a:ext cx="292608" cy="292608"/>
          </a:xfrm>
          <a:prstGeom prst="rect">
            <a:avLst/>
          </a:prstGeom>
        </p:spPr>
      </p:pic>
      <p:sp>
        <p:nvSpPr>
          <p:cNvPr id="48" name="Text 44"/>
          <p:cNvSpPr txBox="1"/>
          <p:nvPr/>
        </p:nvSpPr>
        <p:spPr>
          <a:xfrm>
            <a:off x="6025896" y="320040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tx1"/>
                </a:solidFill>
              </a:rPr>
              <a:t>Kontext z referování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chemeClr val="tx2"/>
                </a:solidFill>
              </a:rPr>
              <a:t>strukturovaná zpráva + originál</a:t>
            </a:r>
            <a:endParaRPr lang="en-US" sz="1250" dirty="0"/>
          </a:p>
        </p:txBody>
      </p:sp>
      <p:pic>
        <p:nvPicPr>
          <p:cNvPr id="4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1848" y="4151376"/>
            <a:ext cx="292608" cy="292608"/>
          </a:xfrm>
          <a:prstGeom prst="rect">
            <a:avLst/>
          </a:prstGeom>
        </p:spPr>
      </p:pic>
      <p:sp>
        <p:nvSpPr>
          <p:cNvPr id="50" name="Text 45"/>
          <p:cNvSpPr txBox="1"/>
          <p:nvPr/>
        </p:nvSpPr>
        <p:spPr>
          <a:xfrm>
            <a:off x="6025896" y="411480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 err="1">
                <a:solidFill>
                  <a:schemeClr val="tx1"/>
                </a:solidFill>
              </a:rPr>
              <a:t>Úkoly</a:t>
            </a:r>
            <a:r>
              <a:rPr lang="en-US" sz="1250" b="1" dirty="0">
                <a:solidFill>
                  <a:schemeClr val="tx1"/>
                </a:solidFill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chemeClr val="tx2"/>
                </a:solidFill>
              </a:rPr>
              <a:t>s termíny a prioritou</a:t>
            </a:r>
            <a:endParaRPr lang="en-US" sz="1250" dirty="0"/>
          </a:p>
        </p:txBody>
      </p:sp>
      <p:pic>
        <p:nvPicPr>
          <p:cNvPr id="5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5029200"/>
            <a:ext cx="201168" cy="201168"/>
          </a:xfrm>
          <a:prstGeom prst="rect">
            <a:avLst/>
          </a:prstGeom>
        </p:spPr>
      </p:pic>
      <p:sp>
        <p:nvSpPr>
          <p:cNvPr id="52" name="Úkol"/>
          <p:cNvSpPr/>
          <p:nvPr/>
        </p:nvSpPr>
        <p:spPr>
          <a:xfrm>
            <a:off x="5934456" y="5093208"/>
            <a:ext cx="1444752" cy="73152"/>
          </a:xfrm>
          <a:prstGeom prst="rect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5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41848" y="5330952"/>
            <a:ext cx="201168" cy="201168"/>
          </a:xfrm>
          <a:prstGeom prst="rect">
            <a:avLst/>
          </a:prstGeom>
        </p:spPr>
      </p:pic>
      <p:sp>
        <p:nvSpPr>
          <p:cNvPr id="54" name="Úkol"/>
          <p:cNvSpPr/>
          <p:nvPr/>
        </p:nvSpPr>
        <p:spPr>
          <a:xfrm>
            <a:off x="5934456" y="5394960"/>
            <a:ext cx="1719072" cy="73152"/>
          </a:xfrm>
          <a:prstGeom prst="rect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5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41848" y="5632704"/>
            <a:ext cx="201168" cy="201168"/>
          </a:xfrm>
          <a:prstGeom prst="rect">
            <a:avLst/>
          </a:prstGeom>
        </p:spPr>
      </p:pic>
      <p:sp>
        <p:nvSpPr>
          <p:cNvPr id="56" name="Úkol"/>
          <p:cNvSpPr/>
          <p:nvPr/>
        </p:nvSpPr>
        <p:spPr>
          <a:xfrm>
            <a:off x="5934456" y="5696712"/>
            <a:ext cx="1444752" cy="73152"/>
          </a:xfrm>
          <a:prstGeom prst="rect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7" name="Váš úkol"/>
          <p:cNvSpPr/>
          <p:nvPr/>
        </p:nvSpPr>
        <p:spPr>
          <a:xfrm>
            <a:off x="8458200" y="2011680"/>
            <a:ext cx="3184855" cy="2743200"/>
          </a:xfrm>
          <a:prstGeom prst="roundRect">
            <a:avLst>
              <a:gd name="adj" fmla="val 2667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5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0" y="2231136"/>
            <a:ext cx="292608" cy="292608"/>
          </a:xfrm>
          <a:prstGeom prst="rect">
            <a:avLst/>
          </a:prstGeom>
        </p:spPr>
      </p:pic>
      <p:sp>
        <p:nvSpPr>
          <p:cNvPr id="59" name="Text 50"/>
          <p:cNvSpPr txBox="1"/>
          <p:nvPr/>
        </p:nvSpPr>
        <p:spPr>
          <a:xfrm>
            <a:off x="9052560" y="2212848"/>
            <a:ext cx="23618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chemeClr val="accent1"/>
                </a:solidFill>
              </a:rPr>
              <a:t>VÁŠ ÚKOL</a:t>
            </a:r>
            <a:endParaRPr lang="en-US" sz="1400" dirty="0"/>
          </a:p>
        </p:txBody>
      </p:sp>
      <p:sp>
        <p:nvSpPr>
          <p:cNvPr id="60" name="Úkoly"/>
          <p:cNvSpPr txBox="1"/>
          <p:nvPr/>
        </p:nvSpPr>
        <p:spPr>
          <a:xfrm>
            <a:off x="8641080" y="2651760"/>
            <a:ext cx="28190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chemeClr val="tx1"/>
                </a:solidFill>
              </a:rPr>
              <a:t>Pracovní fronta se stavy nový / aktivní / </a:t>
            </a:r>
            <a:r>
              <a:rPr lang="en-US" sz="1300" dirty="0" err="1">
                <a:solidFill>
                  <a:schemeClr val="tx1"/>
                </a:solidFill>
              </a:rPr>
              <a:t>odložený</a:t>
            </a:r>
            <a:r>
              <a:rPr lang="en-US" sz="1300" dirty="0">
                <a:solidFill>
                  <a:schemeClr val="tx1"/>
                </a:solidFill>
              </a:rPr>
              <a:t> </a:t>
            </a:r>
            <a:r>
              <a:rPr lang="en-US" sz="1300" dirty="0" err="1">
                <a:solidFill>
                  <a:schemeClr val="tx1"/>
                </a:solidFill>
              </a:rPr>
              <a:t>pacient</a:t>
            </a:r>
            <a:r>
              <a:rPr lang="en-US" sz="1300" dirty="0">
                <a:solidFill>
                  <a:schemeClr val="tx1"/>
                </a:solidFill>
              </a:rPr>
              <a:t>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chemeClr val="tx1"/>
                </a:solidFill>
              </a:rPr>
              <a:t>Detail pacienta: kontext z referování + úkoly s termíny a prioritou.</a:t>
            </a:r>
            <a:endParaRPr lang="en-US" sz="1300" dirty="0"/>
          </a:p>
        </p:txBody>
      </p:sp>
      <p:sp>
        <p:nvSpPr>
          <p:cNvPr id="61" name="Hotovo, když"/>
          <p:cNvSpPr/>
          <p:nvPr/>
        </p:nvSpPr>
        <p:spPr>
          <a:xfrm>
            <a:off x="8641080" y="3657600"/>
            <a:ext cx="2819095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2" name="Text 53"/>
          <p:cNvSpPr txBox="1"/>
          <p:nvPr/>
        </p:nvSpPr>
        <p:spPr>
          <a:xfrm>
            <a:off x="8778240" y="3749040"/>
            <a:ext cx="2544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kern="0" spc="100" dirty="0">
                <a:solidFill>
                  <a:schemeClr val="accent1"/>
                </a:solidFill>
              </a:rPr>
              <a:t>HOTOVO, KDYŽ…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U každého pacienta je vidět stav, termín a kdo je na tahu.</a:t>
            </a:r>
            <a:endParaRPr lang="en-US" sz="1100" dirty="0"/>
          </a:p>
        </p:txBody>
      </p:sp>
      <p:sp>
        <p:nvSpPr>
          <p:cNvPr id="63" name="Princip práce"/>
          <p:cNvSpPr/>
          <p:nvPr/>
        </p:nvSpPr>
        <p:spPr>
          <a:xfrm>
            <a:off x="8458200" y="4892040"/>
            <a:ext cx="3184855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4" name="Text 55"/>
          <p:cNvSpPr txBox="1"/>
          <p:nvPr/>
        </p:nvSpPr>
        <p:spPr>
          <a:xfrm>
            <a:off x="8641080" y="5001768"/>
            <a:ext cx="281909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Princip práce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Všichni pacienti v péči na jednom místě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Koordinátor sleduje pacientskou cestu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Komunikace s lékařem i pacientem</a:t>
            </a:r>
            <a:endParaRPr lang="en-US" sz="1300" dirty="0"/>
          </a:p>
        </p:txBody>
      </p:sp>
      <p:sp>
        <p:nvSpPr>
          <p:cNvPr id="6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4747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kce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1"/>
                </a:solidFill>
              </a:rPr>
              <a:t>VÝZVA  ·  PACIENTSKÁ CESTA</a:t>
            </a:r>
            <a:endParaRPr lang="en-US" sz="1100" dirty="0"/>
          </a:p>
        </p:txBody>
      </p:sp>
      <p:sp>
        <p:nvSpPr>
          <p:cNvPr id="3" name="Postup 1"/>
          <p:cNvSpPr/>
          <p:nvPr/>
        </p:nvSpPr>
        <p:spPr>
          <a:xfrm>
            <a:off x="5754319" y="310896"/>
            <a:ext cx="1417320" cy="329184"/>
          </a:xfrm>
          <a:prstGeom prst="roundRect">
            <a:avLst>
              <a:gd name="adj" fmla="val 41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01 PŘEVZÍT</a:t>
            </a:r>
            <a:endParaRPr lang="en-US" sz="1000" dirty="0"/>
          </a:p>
        </p:txBody>
      </p:sp>
      <p:sp>
        <p:nvSpPr>
          <p:cNvPr id="4" name="Postup 2"/>
          <p:cNvSpPr/>
          <p:nvPr/>
        </p:nvSpPr>
        <p:spPr>
          <a:xfrm>
            <a:off x="7244791" y="310896"/>
            <a:ext cx="1417320" cy="329184"/>
          </a:xfrm>
          <a:prstGeom prst="roundRect">
            <a:avLst>
              <a:gd name="adj" fmla="val 41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02 VYTĚŽIT</a:t>
            </a:r>
            <a:endParaRPr lang="en-US" sz="1000" dirty="0"/>
          </a:p>
        </p:txBody>
      </p:sp>
      <p:sp>
        <p:nvSpPr>
          <p:cNvPr id="5" name="Postup 3"/>
          <p:cNvSpPr/>
          <p:nvPr/>
        </p:nvSpPr>
        <p:spPr>
          <a:xfrm>
            <a:off x="8735263" y="310896"/>
            <a:ext cx="1417320" cy="329184"/>
          </a:xfrm>
          <a:prstGeom prst="roundRect">
            <a:avLst>
              <a:gd name="adj" fmla="val 41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03 KOORDINOVAT</a:t>
            </a:r>
            <a:endParaRPr lang="en-US" sz="1000" dirty="0"/>
          </a:p>
        </p:txBody>
      </p:sp>
      <p:sp>
        <p:nvSpPr>
          <p:cNvPr id="6" name="Postup 4"/>
          <p:cNvSpPr/>
          <p:nvPr/>
        </p:nvSpPr>
        <p:spPr>
          <a:xfrm>
            <a:off x="10225735" y="310896"/>
            <a:ext cx="1417320" cy="329184"/>
          </a:xfrm>
          <a:prstGeom prst="roundRect">
            <a:avLst>
              <a:gd name="adj" fmla="val 41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04 ZPĚTNÁ VAZBA</a:t>
            </a:r>
            <a:endParaRPr lang="en-US" sz="10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13232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Digitální plán hlídá posloupnost, komunikaci i čas</a:t>
            </a:r>
            <a:endParaRPr lang="en-US" sz="3000" dirty="0"/>
          </a:p>
        </p:txBody>
      </p:sp>
      <p:sp>
        <p:nvSpPr>
          <p:cNvPr id="8" name="Podtitul"/>
          <p:cNvSpPr txBox="1"/>
          <p:nvPr/>
        </p:nvSpPr>
        <p:spPr>
          <a:xfrm>
            <a:off x="548640" y="1335024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Koordinátor může zadat jednorázový úkol, nebo spustit celou sadu kroků pro konkrétní diagnózu.</a:t>
            </a:r>
            <a:endParaRPr lang="en-US" sz="1500" dirty="0"/>
          </a:p>
        </p:txBody>
      </p:sp>
      <p:sp>
        <p:nvSpPr>
          <p:cNvPr id="9" name="Sada úkolů"/>
          <p:cNvSpPr/>
          <p:nvPr/>
        </p:nvSpPr>
        <p:spPr>
          <a:xfrm>
            <a:off x="548640" y="2011680"/>
            <a:ext cx="179451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240280"/>
            <a:ext cx="310896" cy="31089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078992" y="2057400"/>
            <a:ext cx="12001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Sada úkolů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např. </a:t>
            </a:r>
            <a:r>
              <a:rPr lang="en-US" sz="1100" dirty="0" err="1">
                <a:solidFill>
                  <a:schemeClr val="tx2"/>
                </a:solidFill>
              </a:rPr>
              <a:t>karcinom</a:t>
            </a:r>
            <a:r>
              <a:rPr lang="en-US" sz="1100" dirty="0">
                <a:solidFill>
                  <a:schemeClr val="tx2"/>
                </a:solidFill>
              </a:rPr>
              <a:t> </a:t>
            </a:r>
            <a:r>
              <a:rPr lang="en-US" sz="1100" dirty="0" err="1">
                <a:solidFill>
                  <a:schemeClr val="tx2"/>
                </a:solidFill>
              </a:rPr>
              <a:t>slinivky</a:t>
            </a:r>
            <a:endParaRPr lang="en-US" sz="1300" dirty="0"/>
          </a:p>
        </p:txBody>
      </p:sp>
      <p:sp>
        <p:nvSpPr>
          <p:cNvPr id="12" name="Posloupnosti"/>
          <p:cNvSpPr/>
          <p:nvPr/>
        </p:nvSpPr>
        <p:spPr>
          <a:xfrm>
            <a:off x="2480310" y="2011680"/>
            <a:ext cx="179451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7470" y="2240280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010662" y="2057400"/>
            <a:ext cx="12001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Posloupnosti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co musí předcházet čemu</a:t>
            </a:r>
            <a:endParaRPr lang="en-US" sz="1300" dirty="0"/>
          </a:p>
        </p:txBody>
      </p:sp>
      <p:sp>
        <p:nvSpPr>
          <p:cNvPr id="15" name="Komunikace"/>
          <p:cNvSpPr/>
          <p:nvPr/>
        </p:nvSpPr>
        <p:spPr>
          <a:xfrm>
            <a:off x="4411980" y="2011680"/>
            <a:ext cx="179451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9140" y="2240280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942332" y="2057400"/>
            <a:ext cx="12001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Komunikace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e-mail / SMS / chat</a:t>
            </a:r>
            <a:endParaRPr lang="en-US" sz="1300" dirty="0"/>
          </a:p>
        </p:txBody>
      </p:sp>
      <p:sp>
        <p:nvSpPr>
          <p:cNvPr id="18" name="Notifikace"/>
          <p:cNvSpPr/>
          <p:nvPr/>
        </p:nvSpPr>
        <p:spPr>
          <a:xfrm>
            <a:off x="6343650" y="2011680"/>
            <a:ext cx="179451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0810" y="2240280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874002" y="2057400"/>
            <a:ext cx="12001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Notifikace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hlídání termínů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54864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tx2"/>
                </a:solidFill>
              </a:rPr>
              <a:t>STAVY PŘÍPADU</a:t>
            </a:r>
            <a:endParaRPr lang="en-US" sz="1100" dirty="0"/>
          </a:p>
        </p:txBody>
      </p:sp>
      <p:pic>
        <p:nvPicPr>
          <p:cNvPr id="22" name="Stavy případu" descr="un/ppt/media/image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291840"/>
            <a:ext cx="7589520" cy="2529840"/>
          </a:xfrm>
          <a:prstGeom prst="rect">
            <a:avLst/>
          </a:prstGeom>
        </p:spPr>
      </p:pic>
      <p:sp>
        <p:nvSpPr>
          <p:cNvPr id="23" name="Váš úkol"/>
          <p:cNvSpPr/>
          <p:nvPr/>
        </p:nvSpPr>
        <p:spPr>
          <a:xfrm>
            <a:off x="8458200" y="2011680"/>
            <a:ext cx="3184855" cy="2926080"/>
          </a:xfrm>
          <a:prstGeom prst="roundRect">
            <a:avLst>
              <a:gd name="adj" fmla="val 25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0" y="2231136"/>
            <a:ext cx="292608" cy="292608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9052560" y="2212848"/>
            <a:ext cx="23618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chemeClr val="accent1"/>
                </a:solidFill>
              </a:rPr>
              <a:t>VÁŠ ÚKOL</a:t>
            </a:r>
            <a:endParaRPr lang="en-US" sz="1400" dirty="0"/>
          </a:p>
        </p:txBody>
      </p:sp>
      <p:sp>
        <p:nvSpPr>
          <p:cNvPr id="26" name="Úkoly"/>
          <p:cNvSpPr txBox="1"/>
          <p:nvPr/>
        </p:nvSpPr>
        <p:spPr>
          <a:xfrm>
            <a:off x="8641080" y="2651760"/>
            <a:ext cx="2819095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 err="1">
                <a:solidFill>
                  <a:schemeClr val="tx1"/>
                </a:solidFill>
              </a:rPr>
              <a:t>Hlídejte</a:t>
            </a:r>
            <a:r>
              <a:rPr lang="en-US" sz="1300" dirty="0">
                <a:solidFill>
                  <a:schemeClr val="tx1"/>
                </a:solidFill>
              </a:rPr>
              <a:t> posloupnost, termíny a stav případu.</a:t>
            </a:r>
            <a:endParaRPr lang="en-US" sz="1300" dirty="0"/>
          </a:p>
        </p:txBody>
      </p:sp>
      <p:sp>
        <p:nvSpPr>
          <p:cNvPr id="27" name="Hotovo, když"/>
          <p:cNvSpPr/>
          <p:nvPr/>
        </p:nvSpPr>
        <p:spPr>
          <a:xfrm>
            <a:off x="8641080" y="3840480"/>
            <a:ext cx="2819095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8" name="Text 20"/>
          <p:cNvSpPr txBox="1"/>
          <p:nvPr/>
        </p:nvSpPr>
        <p:spPr>
          <a:xfrm>
            <a:off x="8778240" y="3931920"/>
            <a:ext cx="2544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kern="0" spc="100" dirty="0">
                <a:solidFill>
                  <a:schemeClr val="accent1"/>
                </a:solidFill>
              </a:rPr>
              <a:t>HOTOVO, KDYŽ…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Je jasné, kde případ je, kdo je „na tahu“ a do kdy má udělat další krok.</a:t>
            </a:r>
            <a:endParaRPr lang="en-US" sz="1100" dirty="0"/>
          </a:p>
        </p:txBody>
      </p:sp>
      <p:sp>
        <p:nvSpPr>
          <p:cNvPr id="29" name="Přínos pro KOC"/>
          <p:cNvSpPr/>
          <p:nvPr/>
        </p:nvSpPr>
        <p:spPr>
          <a:xfrm>
            <a:off x="8458200" y="5074920"/>
            <a:ext cx="3184855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0" name="Text 22"/>
          <p:cNvSpPr txBox="1"/>
          <p:nvPr/>
        </p:nvSpPr>
        <p:spPr>
          <a:xfrm>
            <a:off x="8641080" y="5184648"/>
            <a:ext cx="281909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Přínos pro KOC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Viditelný plán místo paměti jednotlivce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Méně ztracených kroků, rychlejší reakce</a:t>
            </a:r>
            <a:endParaRPr lang="en-US" sz="13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4747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kce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1"/>
                </a:solidFill>
              </a:rPr>
              <a:t>VÝZVA  ·  PŘEDÁNÍ VÝSLEDKU</a:t>
            </a:r>
            <a:endParaRPr lang="en-US" sz="1100" dirty="0"/>
          </a:p>
        </p:txBody>
      </p:sp>
      <p:sp>
        <p:nvSpPr>
          <p:cNvPr id="3" name="Postup 1"/>
          <p:cNvSpPr/>
          <p:nvPr/>
        </p:nvSpPr>
        <p:spPr>
          <a:xfrm>
            <a:off x="5754319" y="310896"/>
            <a:ext cx="1417320" cy="329184"/>
          </a:xfrm>
          <a:prstGeom prst="roundRect">
            <a:avLst>
              <a:gd name="adj" fmla="val 41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01 PŘEVZÍT</a:t>
            </a:r>
            <a:endParaRPr lang="en-US" sz="1000" dirty="0"/>
          </a:p>
        </p:txBody>
      </p:sp>
      <p:sp>
        <p:nvSpPr>
          <p:cNvPr id="4" name="Postup 2"/>
          <p:cNvSpPr/>
          <p:nvPr/>
        </p:nvSpPr>
        <p:spPr>
          <a:xfrm>
            <a:off x="7244791" y="310896"/>
            <a:ext cx="1417320" cy="329184"/>
          </a:xfrm>
          <a:prstGeom prst="roundRect">
            <a:avLst>
              <a:gd name="adj" fmla="val 41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02 VYTĚŽIT</a:t>
            </a:r>
            <a:endParaRPr lang="en-US" sz="1000" dirty="0"/>
          </a:p>
        </p:txBody>
      </p:sp>
      <p:sp>
        <p:nvSpPr>
          <p:cNvPr id="5" name="Postup 3"/>
          <p:cNvSpPr/>
          <p:nvPr/>
        </p:nvSpPr>
        <p:spPr>
          <a:xfrm>
            <a:off x="8735263" y="310896"/>
            <a:ext cx="1417320" cy="329184"/>
          </a:xfrm>
          <a:prstGeom prst="roundRect">
            <a:avLst>
              <a:gd name="adj" fmla="val 41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03 KOORDINOVAT</a:t>
            </a:r>
            <a:endParaRPr lang="en-US" sz="1000" dirty="0"/>
          </a:p>
        </p:txBody>
      </p:sp>
      <p:sp>
        <p:nvSpPr>
          <p:cNvPr id="6" name="Postup 4"/>
          <p:cNvSpPr/>
          <p:nvPr/>
        </p:nvSpPr>
        <p:spPr>
          <a:xfrm>
            <a:off x="10225735" y="310896"/>
            <a:ext cx="1417320" cy="329184"/>
          </a:xfrm>
          <a:prstGeom prst="roundRect">
            <a:avLst>
              <a:gd name="adj" fmla="val 41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04 ZPĚTNÁ VAZBA</a:t>
            </a:r>
            <a:endParaRPr lang="en-US" sz="10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13232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Předání dokumentace referujícímu a reviznímu lékaři</a:t>
            </a:r>
            <a:endParaRPr lang="en-US" sz="3000" dirty="0"/>
          </a:p>
        </p:txBody>
      </p:sp>
      <p:sp>
        <p:nvSpPr>
          <p:cNvPr id="8" name="Podtitul"/>
          <p:cNvSpPr txBox="1"/>
          <p:nvPr/>
        </p:nvSpPr>
        <p:spPr>
          <a:xfrm>
            <a:off x="548640" y="1335024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Software umožní předání zdravotních dokumentů (zpráva z MDT apod.) z KOC zpět k lékařům.</a:t>
            </a:r>
            <a:endParaRPr lang="en-US" sz="1500" dirty="0"/>
          </a:p>
        </p:txBody>
      </p:sp>
      <p:sp>
        <p:nvSpPr>
          <p:cNvPr id="9" name="Krok 1"/>
          <p:cNvSpPr/>
          <p:nvPr/>
        </p:nvSpPr>
        <p:spPr>
          <a:xfrm>
            <a:off x="548640" y="2606040"/>
            <a:ext cx="21488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Číslo 1"/>
          <p:cNvSpPr/>
          <p:nvPr/>
        </p:nvSpPr>
        <p:spPr>
          <a:xfrm>
            <a:off x="685800" y="274320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69748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</a:rPr>
              <a:t>Koordinátor vybere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referovaný případ</a:t>
            </a:r>
            <a:endParaRPr lang="en-US" sz="1350" dirty="0"/>
          </a:p>
        </p:txBody>
      </p:sp>
      <p:sp>
        <p:nvSpPr>
          <p:cNvPr id="12" name="Krok 2"/>
          <p:cNvSpPr/>
          <p:nvPr/>
        </p:nvSpPr>
        <p:spPr>
          <a:xfrm>
            <a:off x="3108960" y="2606040"/>
            <a:ext cx="21488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Číslo 2"/>
          <p:cNvSpPr/>
          <p:nvPr/>
        </p:nvSpPr>
        <p:spPr>
          <a:xfrm>
            <a:off x="3246120" y="274320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703320" y="269748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</a:rPr>
              <a:t>Nahraje zprávu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z MDT atd.</a:t>
            </a:r>
            <a:endParaRPr lang="en-US" sz="1350" dirty="0"/>
          </a:p>
        </p:txBody>
      </p:sp>
      <p:sp>
        <p:nvSpPr>
          <p:cNvPr id="15" name="Šipka"/>
          <p:cNvSpPr/>
          <p:nvPr/>
        </p:nvSpPr>
        <p:spPr>
          <a:xfrm>
            <a:off x="2743200" y="3131820"/>
            <a:ext cx="320040" cy="91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16" name="Referující lékař"/>
          <p:cNvSpPr/>
          <p:nvPr/>
        </p:nvSpPr>
        <p:spPr>
          <a:xfrm>
            <a:off x="5715000" y="2011680"/>
            <a:ext cx="2423160" cy="960120"/>
          </a:xfrm>
          <a:prstGeom prst="roundRect">
            <a:avLst>
              <a:gd name="adj" fmla="val 7619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2" y="2176272"/>
            <a:ext cx="310896" cy="310896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6309360" y="21031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</a:rPr>
              <a:t>Referující lékař </a:t>
            </a:r>
            <a:r>
              <a:rPr lang="en-US" sz="1350" dirty="0">
                <a:solidFill>
                  <a:schemeClr val="tx1"/>
                </a:solidFill>
              </a:rPr>
              <a:t>obdrží zprávu včetně původního kontextu o pacientovi</a:t>
            </a:r>
            <a:endParaRPr lang="en-US" sz="1350" dirty="0"/>
          </a:p>
        </p:txBody>
      </p:sp>
      <p:sp>
        <p:nvSpPr>
          <p:cNvPr id="19" name="Revizní lékař"/>
          <p:cNvSpPr/>
          <p:nvPr/>
        </p:nvSpPr>
        <p:spPr>
          <a:xfrm>
            <a:off x="5715000" y="3291840"/>
            <a:ext cx="2423160" cy="960120"/>
          </a:xfrm>
          <a:prstGeom prst="roundRect">
            <a:avLst>
              <a:gd name="adj" fmla="val 7619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2" y="3456432"/>
            <a:ext cx="310896" cy="310896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6309360" y="33832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</a:rPr>
              <a:t>Revizní lékař </a:t>
            </a:r>
            <a:r>
              <a:rPr lang="en-US" sz="1350" dirty="0">
                <a:solidFill>
                  <a:schemeClr val="tx1"/>
                </a:solidFill>
              </a:rPr>
              <a:t>dostane informaci automaticky</a:t>
            </a:r>
            <a:endParaRPr lang="en-US" sz="1350" dirty="0"/>
          </a:p>
        </p:txBody>
      </p:sp>
      <p:sp>
        <p:nvSpPr>
          <p:cNvPr id="22" name="Šipka"/>
          <p:cNvSpPr/>
          <p:nvPr/>
        </p:nvSpPr>
        <p:spPr>
          <a:xfrm flipV="1">
            <a:off x="5303520" y="2487168"/>
            <a:ext cx="365760" cy="644652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23" name="Šipka"/>
          <p:cNvSpPr/>
          <p:nvPr/>
        </p:nvSpPr>
        <p:spPr>
          <a:xfrm>
            <a:off x="5303520" y="3131820"/>
            <a:ext cx="365760" cy="635508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24" name="Pro referujícího lékaře"/>
          <p:cNvSpPr/>
          <p:nvPr/>
        </p:nvSpPr>
        <p:spPr>
          <a:xfrm>
            <a:off x="548640" y="4572000"/>
            <a:ext cx="36576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5" name="Text 21"/>
          <p:cNvSpPr txBox="1"/>
          <p:nvPr/>
        </p:nvSpPr>
        <p:spPr>
          <a:xfrm>
            <a:off x="731520" y="4681728"/>
            <a:ext cx="32918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Pro referujícího lékaře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Má zpětnou vazbu o pacientovi.</a:t>
            </a:r>
            <a:endParaRPr lang="en-US" sz="1300" dirty="0"/>
          </a:p>
        </p:txBody>
      </p:sp>
      <p:sp>
        <p:nvSpPr>
          <p:cNvPr id="26" name="Pro revizního lékaře"/>
          <p:cNvSpPr/>
          <p:nvPr/>
        </p:nvSpPr>
        <p:spPr>
          <a:xfrm>
            <a:off x="4480560" y="4572000"/>
            <a:ext cx="36576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7" name="Text 23"/>
          <p:cNvSpPr txBox="1"/>
          <p:nvPr/>
        </p:nvSpPr>
        <p:spPr>
          <a:xfrm>
            <a:off x="4663440" y="4681728"/>
            <a:ext cx="32918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Pro revizního lékaře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Roztříděné informace do předem definované struktury pomocí AI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Může od koordinátora rovnou vyžádat doplňující informace</a:t>
            </a:r>
            <a:endParaRPr lang="en-US" sz="1300" dirty="0"/>
          </a:p>
        </p:txBody>
      </p:sp>
      <p:sp>
        <p:nvSpPr>
          <p:cNvPr id="28" name="Váš úkol"/>
          <p:cNvSpPr/>
          <p:nvPr/>
        </p:nvSpPr>
        <p:spPr>
          <a:xfrm>
            <a:off x="8458200" y="2011680"/>
            <a:ext cx="3184855" cy="4023360"/>
          </a:xfrm>
          <a:prstGeom prst="roundRect">
            <a:avLst>
              <a:gd name="adj" fmla="val 2297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2231136"/>
            <a:ext cx="292608" cy="292608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9052560" y="2212848"/>
            <a:ext cx="23618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chemeClr val="accent1"/>
                </a:solidFill>
              </a:rPr>
              <a:t>VÁŠ ÚKOL</a:t>
            </a:r>
            <a:endParaRPr lang="en-US" sz="1400" dirty="0"/>
          </a:p>
        </p:txBody>
      </p:sp>
      <p:sp>
        <p:nvSpPr>
          <p:cNvPr id="31" name="Úkoly"/>
          <p:cNvSpPr txBox="1"/>
          <p:nvPr/>
        </p:nvSpPr>
        <p:spPr>
          <a:xfrm>
            <a:off x="8641080" y="2651760"/>
            <a:ext cx="281909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chemeClr val="tx1"/>
                </a:solidFill>
              </a:rPr>
              <a:t>Po rozhodnutí KOC/MDT vraťte referujícímu lékaři jasný a strukturovaný výsledek.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chemeClr val="tx1"/>
                </a:solidFill>
              </a:rPr>
              <a:t>Připojte původní kontext případu.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chemeClr val="tx1"/>
                </a:solidFill>
              </a:rPr>
              <a:t>Reviznímu lékaři předejte informaci automaticky.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chemeClr val="tx1"/>
                </a:solidFill>
              </a:rPr>
              <a:t>Předání potvrďte a případ uzavřete.</a:t>
            </a:r>
            <a:endParaRPr lang="en-US" sz="1300" dirty="0"/>
          </a:p>
        </p:txBody>
      </p:sp>
      <p:sp>
        <p:nvSpPr>
          <p:cNvPr id="32" name="Hotovo, když"/>
          <p:cNvSpPr/>
          <p:nvPr/>
        </p:nvSpPr>
        <p:spPr>
          <a:xfrm>
            <a:off x="8641080" y="4937760"/>
            <a:ext cx="2819095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3" name="Text 28"/>
          <p:cNvSpPr txBox="1"/>
          <p:nvPr/>
        </p:nvSpPr>
        <p:spPr>
          <a:xfrm>
            <a:off x="8778240" y="5029200"/>
            <a:ext cx="2544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kern="0" spc="100" dirty="0">
                <a:solidFill>
                  <a:schemeClr val="accent1"/>
                </a:solidFill>
              </a:rPr>
              <a:t>HOTOVO, KDYŽ…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Referující lékař má výsledek i s kontextem a předání je potvrzené.</a:t>
            </a:r>
            <a:endParaRPr lang="en-US" sz="11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4747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kce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1"/>
                </a:solidFill>
              </a:rPr>
              <a:t>VÝZVA  ·  CO ODEVZDÁTE</a:t>
            </a:r>
            <a:endParaRPr lang="en-US" sz="1100" dirty="0"/>
          </a:p>
        </p:txBody>
      </p:sp>
      <p:sp>
        <p:nvSpPr>
          <p:cNvPr id="3" name="Postup 1"/>
          <p:cNvSpPr/>
          <p:nvPr/>
        </p:nvSpPr>
        <p:spPr>
          <a:xfrm>
            <a:off x="5754319" y="310896"/>
            <a:ext cx="1417320" cy="329184"/>
          </a:xfrm>
          <a:prstGeom prst="roundRect">
            <a:avLst>
              <a:gd name="adj" fmla="val 41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01 PŘEVZÍT</a:t>
            </a:r>
            <a:endParaRPr lang="en-US" sz="1000" dirty="0"/>
          </a:p>
        </p:txBody>
      </p:sp>
      <p:sp>
        <p:nvSpPr>
          <p:cNvPr id="4" name="Postup 2"/>
          <p:cNvSpPr/>
          <p:nvPr/>
        </p:nvSpPr>
        <p:spPr>
          <a:xfrm>
            <a:off x="7244791" y="310896"/>
            <a:ext cx="1417320" cy="329184"/>
          </a:xfrm>
          <a:prstGeom prst="roundRect">
            <a:avLst>
              <a:gd name="adj" fmla="val 41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02 VYTĚŽIT</a:t>
            </a:r>
            <a:endParaRPr lang="en-US" sz="1000" dirty="0"/>
          </a:p>
        </p:txBody>
      </p:sp>
      <p:sp>
        <p:nvSpPr>
          <p:cNvPr id="5" name="Postup 3"/>
          <p:cNvSpPr/>
          <p:nvPr/>
        </p:nvSpPr>
        <p:spPr>
          <a:xfrm>
            <a:off x="8735263" y="310896"/>
            <a:ext cx="1417320" cy="329184"/>
          </a:xfrm>
          <a:prstGeom prst="roundRect">
            <a:avLst>
              <a:gd name="adj" fmla="val 41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03 KOORDINOVAT</a:t>
            </a:r>
            <a:endParaRPr lang="en-US" sz="1000" dirty="0"/>
          </a:p>
        </p:txBody>
      </p:sp>
      <p:sp>
        <p:nvSpPr>
          <p:cNvPr id="6" name="Postup 4"/>
          <p:cNvSpPr/>
          <p:nvPr/>
        </p:nvSpPr>
        <p:spPr>
          <a:xfrm>
            <a:off x="10225735" y="310896"/>
            <a:ext cx="1417320" cy="329184"/>
          </a:xfrm>
          <a:prstGeom prst="roundRect">
            <a:avLst>
              <a:gd name="adj" fmla="val 41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04 ZPĚTNÁ VAZBA</a:t>
            </a:r>
            <a:endParaRPr lang="en-US" sz="10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13232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Výstup: jedna diagnóza a funkční demo</a:t>
            </a:r>
            <a:endParaRPr lang="en-US" sz="3000" dirty="0"/>
          </a:p>
        </p:txBody>
      </p:sp>
      <p:sp>
        <p:nvSpPr>
          <p:cNvPr id="8" name="Podtitul"/>
          <p:cNvSpPr txBox="1"/>
          <p:nvPr/>
        </p:nvSpPr>
        <p:spPr>
          <a:xfrm>
            <a:off x="548640" y="1335024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Ukažte celý průchod jednoho případu – od referování po potvrzené předání výsledku.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tx2"/>
                </a:solidFill>
              </a:rPr>
              <a:t>DEMO MUSÍ UKÁZAT</a:t>
            </a:r>
            <a:endParaRPr lang="en-US" sz="1100" dirty="0"/>
          </a:p>
        </p:txBody>
      </p:sp>
      <p:sp>
        <p:nvSpPr>
          <p:cNvPr id="10" name="Požadavek 1"/>
          <p:cNvSpPr/>
          <p:nvPr/>
        </p:nvSpPr>
        <p:spPr>
          <a:xfrm>
            <a:off x="548640" y="2286000"/>
            <a:ext cx="658368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77440"/>
            <a:ext cx="292608" cy="29260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188720" y="2286000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Referování pacienta do KOC bez dalšího formuláře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126480" y="2377440"/>
            <a:ext cx="822960" cy="292608"/>
          </a:xfrm>
          <a:prstGeom prst="roundRect">
            <a:avLst>
              <a:gd name="adj" fmla="val 3125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tx2"/>
                </a:solidFill>
              </a:rPr>
              <a:t>krok 01</a:t>
            </a:r>
            <a:endParaRPr lang="en-US" sz="1050" dirty="0"/>
          </a:p>
        </p:txBody>
      </p:sp>
      <p:sp>
        <p:nvSpPr>
          <p:cNvPr id="14" name="Požadavek 2"/>
          <p:cNvSpPr/>
          <p:nvPr/>
        </p:nvSpPr>
        <p:spPr>
          <a:xfrm>
            <a:off x="548640" y="2852928"/>
            <a:ext cx="658368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944368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188720" y="2852928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AI vytěžení s kontrolou úplnosti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126480" y="2944368"/>
            <a:ext cx="822960" cy="292608"/>
          </a:xfrm>
          <a:prstGeom prst="roundRect">
            <a:avLst>
              <a:gd name="adj" fmla="val 3125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tx2"/>
                </a:solidFill>
              </a:rPr>
              <a:t>krok 02</a:t>
            </a:r>
            <a:endParaRPr lang="en-US" sz="1050" dirty="0"/>
          </a:p>
        </p:txBody>
      </p:sp>
      <p:sp>
        <p:nvSpPr>
          <p:cNvPr id="18" name="Požadavek 3"/>
          <p:cNvSpPr/>
          <p:nvPr/>
        </p:nvSpPr>
        <p:spPr>
          <a:xfrm>
            <a:off x="548640" y="3419856"/>
            <a:ext cx="658368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11296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188720" y="3419856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Přehled případů se stavem a termínem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126480" y="3511296"/>
            <a:ext cx="822960" cy="292608"/>
          </a:xfrm>
          <a:prstGeom prst="roundRect">
            <a:avLst>
              <a:gd name="adj" fmla="val 3125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tx2"/>
                </a:solidFill>
              </a:rPr>
              <a:t>krok 03</a:t>
            </a:r>
            <a:endParaRPr lang="en-US" sz="1050" dirty="0"/>
          </a:p>
        </p:txBody>
      </p:sp>
      <p:sp>
        <p:nvSpPr>
          <p:cNvPr id="22" name="Požadavek 4"/>
          <p:cNvSpPr/>
          <p:nvPr/>
        </p:nvSpPr>
        <p:spPr>
          <a:xfrm>
            <a:off x="548640" y="3986784"/>
            <a:ext cx="658368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078224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188720" y="3986784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Vlastník každého dalšího kroku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6126480" y="4078224"/>
            <a:ext cx="822960" cy="292608"/>
          </a:xfrm>
          <a:prstGeom prst="roundRect">
            <a:avLst>
              <a:gd name="adj" fmla="val 3125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tx2"/>
                </a:solidFill>
              </a:rPr>
              <a:t>krok 03</a:t>
            </a:r>
            <a:endParaRPr lang="en-US" sz="1050" dirty="0"/>
          </a:p>
        </p:txBody>
      </p:sp>
      <p:sp>
        <p:nvSpPr>
          <p:cNvPr id="26" name="Požadavek 5"/>
          <p:cNvSpPr/>
          <p:nvPr/>
        </p:nvSpPr>
        <p:spPr>
          <a:xfrm>
            <a:off x="548640" y="4553712"/>
            <a:ext cx="658368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645152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188720" y="4553712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Strukturovaný závěr KOC / MDT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6126480" y="4645152"/>
            <a:ext cx="822960" cy="292608"/>
          </a:xfrm>
          <a:prstGeom prst="roundRect">
            <a:avLst>
              <a:gd name="adj" fmla="val 3125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tx2"/>
                </a:solidFill>
              </a:rPr>
              <a:t>krok 04</a:t>
            </a:r>
            <a:endParaRPr lang="en-US" sz="1050" dirty="0"/>
          </a:p>
        </p:txBody>
      </p:sp>
      <p:sp>
        <p:nvSpPr>
          <p:cNvPr id="30" name="Požadavek 6"/>
          <p:cNvSpPr/>
          <p:nvPr/>
        </p:nvSpPr>
        <p:spPr>
          <a:xfrm>
            <a:off x="548640" y="5120640"/>
            <a:ext cx="658368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212080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1188720" y="5120640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Zpětná vazba a potvrzené předání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6126480" y="5212080"/>
            <a:ext cx="822960" cy="292608"/>
          </a:xfrm>
          <a:prstGeom prst="roundRect">
            <a:avLst>
              <a:gd name="adj" fmla="val 3125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tx2"/>
                </a:solidFill>
              </a:rPr>
              <a:t>krok 04</a:t>
            </a:r>
            <a:endParaRPr lang="en-US" sz="1050" dirty="0"/>
          </a:p>
        </p:txBody>
      </p:sp>
      <p:pic>
        <p:nvPicPr>
          <p:cNvPr id="34" name="Ilustrace demo" descr="un/ppt/media/imag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2331720"/>
            <a:ext cx="4099255" cy="3068841"/>
          </a:xfrm>
          <a:prstGeom prst="rect">
            <a:avLst/>
          </a:prstGeom>
        </p:spPr>
      </p:pic>
      <p:sp>
        <p:nvSpPr>
          <p:cNvPr id="35" name="Rozsah"/>
          <p:cNvSpPr/>
          <p:nvPr/>
        </p:nvSpPr>
        <p:spPr>
          <a:xfrm>
            <a:off x="548640" y="5760720"/>
            <a:ext cx="11094415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6" name="Text 27"/>
          <p:cNvSpPr txBox="1"/>
          <p:nvPr/>
        </p:nvSpPr>
        <p:spPr>
          <a:xfrm>
            <a:off x="777240" y="576072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Rakathon ověří princip. </a:t>
            </a:r>
            <a:r>
              <a:rPr lang="en-US" sz="1500" dirty="0">
                <a:solidFill>
                  <a:schemeClr val="tx1"/>
                </a:solidFill>
              </a:rPr>
              <a:t>Produkční integrace patří do další fáze.</a:t>
            </a:r>
            <a:endParaRPr lang="en-US" sz="15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4747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kce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1"/>
                </a:solidFill>
              </a:rPr>
              <a:t>PODKLADY A ODBORNÁ OPORA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13232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S čím budete pracovat a kdo vám pomůže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1"/>
                </a:solidFill>
              </a:rPr>
              <a:t>PODKLADY PRO SOUTĚŽÍCÍ</a:t>
            </a:r>
            <a:endParaRPr lang="en-US" sz="1100" dirty="0"/>
          </a:p>
        </p:txBody>
      </p:sp>
      <p:sp>
        <p:nvSpPr>
          <p:cNvPr id="5" name="Anonymizované onkologické podklady"/>
          <p:cNvSpPr/>
          <p:nvPr/>
        </p:nvSpPr>
        <p:spPr>
          <a:xfrm>
            <a:off x="548640" y="1965960"/>
            <a:ext cx="54864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Ikona pozadí"/>
          <p:cNvSpPr/>
          <p:nvPr/>
        </p:nvSpPr>
        <p:spPr>
          <a:xfrm>
            <a:off x="685800" y="2011680"/>
            <a:ext cx="457200" cy="457200"/>
          </a:xfrm>
          <a:prstGeom prst="ellipse">
            <a:avLst/>
          </a:prstGeom>
          <a:solidFill>
            <a:srgbClr val="B2071D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7" name="Ikona LuFileText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2125980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25880" y="19659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Anonymizované </a:t>
            </a:r>
            <a:r>
              <a:rPr lang="en-US" sz="1600" dirty="0" err="1">
                <a:solidFill>
                  <a:schemeClr val="tx1"/>
                </a:solidFill>
              </a:rPr>
              <a:t>onkologické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podklady</a:t>
            </a:r>
            <a:r>
              <a:rPr lang="en-US" sz="1600" dirty="0">
                <a:solidFill>
                  <a:schemeClr val="tx1"/>
                </a:solidFill>
              </a:rPr>
              <a:t> “</a:t>
            </a:r>
            <a:r>
              <a:rPr lang="en-US" sz="1600" dirty="0" err="1">
                <a:solidFill>
                  <a:schemeClr val="tx1"/>
                </a:solidFill>
              </a:rPr>
              <a:t>Pacient</a:t>
            </a:r>
            <a:r>
              <a:rPr lang="en-US" sz="1600" dirty="0">
                <a:solidFill>
                  <a:schemeClr val="tx1"/>
                </a:solidFill>
              </a:rPr>
              <a:t>”</a:t>
            </a:r>
            <a:endParaRPr lang="en-US" sz="1600" dirty="0"/>
          </a:p>
        </p:txBody>
      </p:sp>
      <p:sp>
        <p:nvSpPr>
          <p:cNvPr id="9" name="Datový slovník a pracovní dataset"/>
          <p:cNvSpPr/>
          <p:nvPr/>
        </p:nvSpPr>
        <p:spPr>
          <a:xfrm>
            <a:off x="548640" y="2624328"/>
            <a:ext cx="54864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Ikona pozadí"/>
          <p:cNvSpPr/>
          <p:nvPr/>
        </p:nvSpPr>
        <p:spPr>
          <a:xfrm>
            <a:off x="685800" y="2670048"/>
            <a:ext cx="457200" cy="457200"/>
          </a:xfrm>
          <a:prstGeom prst="ellipse">
            <a:avLst/>
          </a:prstGeom>
          <a:solidFill>
            <a:srgbClr val="B2071D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1" name="Ikona LuDatabas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2784348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25880" y="262432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chemeClr val="tx1"/>
                </a:solidFill>
              </a:rPr>
              <a:t>Zadání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úlohy</a:t>
            </a:r>
            <a:r>
              <a:rPr lang="en-US" sz="1600" dirty="0">
                <a:solidFill>
                  <a:schemeClr val="tx1"/>
                </a:solidFill>
              </a:rPr>
              <a:t> “</a:t>
            </a:r>
            <a:r>
              <a:rPr lang="en-US" sz="1600" dirty="0" err="1">
                <a:solidFill>
                  <a:schemeClr val="tx1"/>
                </a:solidFill>
              </a:rPr>
              <a:t>Zadani_ulohy</a:t>
            </a:r>
            <a:r>
              <a:rPr lang="en-US" sz="1600" dirty="0">
                <a:solidFill>
                  <a:schemeClr val="tx1"/>
                </a:solidFill>
              </a:rPr>
              <a:t>”</a:t>
            </a:r>
            <a:endParaRPr lang="en-US" sz="1600" dirty="0"/>
          </a:p>
        </p:txBody>
      </p:sp>
      <p:sp>
        <p:nvSpPr>
          <p:cNvPr id="13" name="Pracovní seznam indikátorů"/>
          <p:cNvSpPr/>
          <p:nvPr/>
        </p:nvSpPr>
        <p:spPr>
          <a:xfrm>
            <a:off x="548640" y="3282696"/>
            <a:ext cx="54864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Ikona pozadí"/>
          <p:cNvSpPr/>
          <p:nvPr/>
        </p:nvSpPr>
        <p:spPr>
          <a:xfrm>
            <a:off x="685800" y="3328416"/>
            <a:ext cx="457200" cy="457200"/>
          </a:xfrm>
          <a:prstGeom prst="ellipse">
            <a:avLst/>
          </a:prstGeom>
          <a:solidFill>
            <a:srgbClr val="B2071D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5" name="Ikona LuListChecks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3442716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25880" y="328269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 err="1"/>
              <a:t>Souhrn</a:t>
            </a:r>
            <a:r>
              <a:rPr lang="en-US" sz="1600" dirty="0"/>
              <a:t> </a:t>
            </a:r>
            <a:r>
              <a:rPr lang="en-US" sz="1600" dirty="0" err="1"/>
              <a:t>informací</a:t>
            </a:r>
            <a:r>
              <a:rPr lang="en-US" sz="1600" dirty="0"/>
              <a:t> po </a:t>
            </a:r>
            <a:r>
              <a:rPr lang="en-US" sz="1600" dirty="0" err="1"/>
              <a:t>vytěžení</a:t>
            </a:r>
            <a:r>
              <a:rPr lang="en-US" sz="1600" dirty="0"/>
              <a:t> “</a:t>
            </a:r>
            <a:r>
              <a:rPr lang="en-US" sz="1600" dirty="0" err="1"/>
              <a:t>Handover_obsah</a:t>
            </a:r>
            <a:r>
              <a:rPr lang="en-US" sz="1600" dirty="0"/>
              <a:t>”</a:t>
            </a:r>
          </a:p>
        </p:txBody>
      </p:sp>
      <p:sp>
        <p:nvSpPr>
          <p:cNvPr id="17" name="Klinický a plátcovský kontext"/>
          <p:cNvSpPr/>
          <p:nvPr/>
        </p:nvSpPr>
        <p:spPr>
          <a:xfrm>
            <a:off x="548640" y="3941064"/>
            <a:ext cx="54864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Ikona pozadí"/>
          <p:cNvSpPr/>
          <p:nvPr/>
        </p:nvSpPr>
        <p:spPr>
          <a:xfrm>
            <a:off x="685800" y="3986784"/>
            <a:ext cx="457200" cy="457200"/>
          </a:xfrm>
          <a:prstGeom prst="ellipse">
            <a:avLst/>
          </a:prstGeom>
          <a:solidFill>
            <a:srgbClr val="B2071D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9" name="Ikona LuHospital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4101084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325880" y="394106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chemeClr val="tx1"/>
                </a:solidFill>
              </a:rPr>
              <a:t>Souhrn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informací</a:t>
            </a:r>
            <a:r>
              <a:rPr lang="en-US" sz="1600" dirty="0">
                <a:solidFill>
                  <a:schemeClr val="tx1"/>
                </a:solidFill>
              </a:rPr>
              <a:t> pro MDT “</a:t>
            </a:r>
            <a:r>
              <a:rPr lang="en-US" sz="1600" dirty="0" err="1">
                <a:solidFill>
                  <a:schemeClr val="tx1"/>
                </a:solidFill>
              </a:rPr>
              <a:t>MDT_zapis</a:t>
            </a:r>
            <a:r>
              <a:rPr lang="en-US" sz="1600" dirty="0">
                <a:solidFill>
                  <a:schemeClr val="tx1"/>
                </a:solidFill>
              </a:rPr>
              <a:t>”</a:t>
            </a:r>
            <a:endParaRPr lang="en-US" sz="1600" dirty="0"/>
          </a:p>
        </p:txBody>
      </p:sp>
      <p:sp>
        <p:nvSpPr>
          <p:cNvPr id="21" name="Odborné konzultace"/>
          <p:cNvSpPr/>
          <p:nvPr/>
        </p:nvSpPr>
        <p:spPr>
          <a:xfrm>
            <a:off x="548640" y="4599432"/>
            <a:ext cx="54864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2" name="Ikona pozadí"/>
          <p:cNvSpPr/>
          <p:nvPr/>
        </p:nvSpPr>
        <p:spPr>
          <a:xfrm>
            <a:off x="685800" y="4645152"/>
            <a:ext cx="457200" cy="457200"/>
          </a:xfrm>
          <a:prstGeom prst="ellipse">
            <a:avLst/>
          </a:prstGeom>
          <a:solidFill>
            <a:srgbClr val="B2071D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23" name="Ikona LuMessageSquare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4759452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325880" y="459943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/>
              <a:t>Závěr</a:t>
            </a:r>
            <a:r>
              <a:rPr lang="en-US" sz="1600" dirty="0"/>
              <a:t> MDT pro </a:t>
            </a:r>
            <a:r>
              <a:rPr lang="en-US" sz="1600" dirty="0" err="1"/>
              <a:t>odeslání</a:t>
            </a:r>
            <a:r>
              <a:rPr lang="en-US" sz="1600" dirty="0"/>
              <a:t> </a:t>
            </a:r>
            <a:r>
              <a:rPr lang="en-US" sz="1600" dirty="0" err="1"/>
              <a:t>praktikovi</a:t>
            </a:r>
            <a:r>
              <a:rPr lang="en-US" sz="1600" dirty="0"/>
              <a:t> “</a:t>
            </a:r>
            <a:r>
              <a:rPr lang="en-US" sz="1600" dirty="0" err="1"/>
              <a:t>MDT_zaver</a:t>
            </a:r>
            <a:r>
              <a:rPr lang="en-US" sz="1600" dirty="0"/>
              <a:t>”</a:t>
            </a:r>
          </a:p>
        </p:txBody>
      </p:sp>
      <p:sp>
        <p:nvSpPr>
          <p:cNvPr id="25" name="Text 18"/>
          <p:cNvSpPr txBox="1"/>
          <p:nvPr/>
        </p:nvSpPr>
        <p:spPr>
          <a:xfrm>
            <a:off x="6583680" y="1600200"/>
            <a:ext cx="5059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1"/>
                </a:solidFill>
              </a:rPr>
              <a:t>MENTOŘI</a:t>
            </a:r>
            <a:endParaRPr lang="en-US" sz="1100" dirty="0"/>
          </a:p>
        </p:txBody>
      </p:sp>
      <p:sp>
        <p:nvSpPr>
          <p:cNvPr id="26" name="doc. MUDr. Zuzana Bielčiková, Ph.D."/>
          <p:cNvSpPr/>
          <p:nvPr/>
        </p:nvSpPr>
        <p:spPr>
          <a:xfrm>
            <a:off x="6583680" y="1965960"/>
            <a:ext cx="5059375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7" name="Ikona pozadí"/>
          <p:cNvSpPr/>
          <p:nvPr/>
        </p:nvSpPr>
        <p:spPr>
          <a:xfrm>
            <a:off x="6720840" y="201168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28" name="Ikona LuUserRound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5140" y="2125980"/>
            <a:ext cx="228600" cy="22860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7360920" y="1965960"/>
            <a:ext cx="4144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doc. MUDr. Zuzana Bielčiková, Ph.D.</a:t>
            </a:r>
            <a:endParaRPr lang="en-US" sz="1600" dirty="0"/>
          </a:p>
        </p:txBody>
      </p:sp>
      <p:sp>
        <p:nvSpPr>
          <p:cNvPr id="30" name="Ing. Klára Vaňková"/>
          <p:cNvSpPr/>
          <p:nvPr/>
        </p:nvSpPr>
        <p:spPr>
          <a:xfrm>
            <a:off x="6583680" y="2624328"/>
            <a:ext cx="5059375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1" name="Ikona pozadí"/>
          <p:cNvSpPr/>
          <p:nvPr/>
        </p:nvSpPr>
        <p:spPr>
          <a:xfrm>
            <a:off x="6720840" y="2670048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32" name="Ikona LuUserRound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5140" y="2784348"/>
            <a:ext cx="228600" cy="22860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7360920" y="2624328"/>
            <a:ext cx="4144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Ing. Klára Vaňková</a:t>
            </a:r>
            <a:endParaRPr lang="en-US" sz="1600" dirty="0"/>
          </a:p>
        </p:txBody>
      </p:sp>
      <p:sp>
        <p:nvSpPr>
          <p:cNvPr id="34" name="Tereza Chrástová"/>
          <p:cNvSpPr/>
          <p:nvPr/>
        </p:nvSpPr>
        <p:spPr>
          <a:xfrm>
            <a:off x="6583680" y="3282696"/>
            <a:ext cx="5059375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5" name="Ikona pozadí"/>
          <p:cNvSpPr/>
          <p:nvPr/>
        </p:nvSpPr>
        <p:spPr>
          <a:xfrm>
            <a:off x="6720840" y="3328416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36" name="Ikona LuUserRound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5140" y="3442716"/>
            <a:ext cx="228600" cy="228600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7360920" y="3282696"/>
            <a:ext cx="4144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Mgr. Tereza Chrástová</a:t>
            </a:r>
            <a:endParaRPr lang="en-US" sz="1600" dirty="0"/>
          </a:p>
        </p:txBody>
      </p:sp>
      <p:sp>
        <p:nvSpPr>
          <p:cNvPr id="38" name="RNDr. Marián Rybář, Ph.D., MHA"/>
          <p:cNvSpPr/>
          <p:nvPr/>
        </p:nvSpPr>
        <p:spPr>
          <a:xfrm>
            <a:off x="6583680" y="3941064"/>
            <a:ext cx="5059375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9" name="Ikona pozadí"/>
          <p:cNvSpPr/>
          <p:nvPr/>
        </p:nvSpPr>
        <p:spPr>
          <a:xfrm>
            <a:off x="6720840" y="3986784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40" name="Ikona LuUserRound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5140" y="4101084"/>
            <a:ext cx="228600" cy="228600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7360920" y="3941064"/>
            <a:ext cx="4144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RNDr. Marián Rybář, Ph.D., MHA</a:t>
            </a:r>
            <a:endParaRPr lang="en-US" sz="1600" dirty="0"/>
          </a:p>
        </p:txBody>
      </p:sp>
      <p:sp>
        <p:nvSpPr>
          <p:cNvPr id="42" name="Michaela Tůmová"/>
          <p:cNvSpPr/>
          <p:nvPr/>
        </p:nvSpPr>
        <p:spPr>
          <a:xfrm>
            <a:off x="6583680" y="4599432"/>
            <a:ext cx="5059375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3" name="Ikona pozadí"/>
          <p:cNvSpPr/>
          <p:nvPr/>
        </p:nvSpPr>
        <p:spPr>
          <a:xfrm>
            <a:off x="6720840" y="4645152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44" name="Ikona LuUserRound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5140" y="4759452"/>
            <a:ext cx="228600" cy="228600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7360920" y="4599432"/>
            <a:ext cx="4144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Michaela Tůmová</a:t>
            </a:r>
            <a:endParaRPr lang="en-US" sz="1600" dirty="0"/>
          </a:p>
        </p:txBody>
      </p:sp>
      <p:sp>
        <p:nvSpPr>
          <p:cNvPr id="46" name="MUDr. Klimeč Lipánová"/>
          <p:cNvSpPr/>
          <p:nvPr/>
        </p:nvSpPr>
        <p:spPr>
          <a:xfrm>
            <a:off x="6583680" y="5257800"/>
            <a:ext cx="5059375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7" name="Ikona pozadí"/>
          <p:cNvSpPr/>
          <p:nvPr/>
        </p:nvSpPr>
        <p:spPr>
          <a:xfrm>
            <a:off x="6720840" y="530352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48" name="Ikona LuUserRound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5140" y="5417820"/>
            <a:ext cx="228600" cy="228600"/>
          </a:xfrm>
          <a:prstGeom prst="rect">
            <a:avLst/>
          </a:prstGeom>
        </p:spPr>
      </p:pic>
      <p:sp>
        <p:nvSpPr>
          <p:cNvPr id="49" name="Text 36"/>
          <p:cNvSpPr txBox="1"/>
          <p:nvPr/>
        </p:nvSpPr>
        <p:spPr>
          <a:xfrm>
            <a:off x="7360920" y="5257800"/>
            <a:ext cx="4144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MUDr. Michaela Klimeš Lipánová</a:t>
            </a:r>
            <a:endParaRPr lang="en-US" sz="1600" dirty="0"/>
          </a:p>
        </p:txBody>
      </p:sp>
      <p:pic>
        <p:nvPicPr>
          <p:cNvPr id="50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5916168"/>
            <a:ext cx="237744" cy="237744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896112" y="5870448"/>
            <a:ext cx="10728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tx2"/>
                </a:solidFill>
              </a:rPr>
              <a:t>Organizátor potvrdí dostupnost podkladů a doplní odkaz na zadání.</a:t>
            </a:r>
            <a:endParaRPr lang="en-US" sz="1300" dirty="0"/>
          </a:p>
        </p:txBody>
      </p:sp>
      <p:sp>
        <p:nvSpPr>
          <p:cNvPr id="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4747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kathon VZP">
  <a:themeElements>
    <a:clrScheme name="Rakathon VZP">
      <a:dk1>
        <a:srgbClr val="16324F"/>
      </a:dk1>
      <a:lt1>
        <a:srgbClr val="FFFFFF"/>
      </a:lt1>
      <a:dk2>
        <a:srgbClr val="5B6F82"/>
      </a:dk2>
      <a:lt2>
        <a:srgbClr val="F3F5F8"/>
      </a:lt2>
      <a:accent1>
        <a:srgbClr val="B2071D"/>
      </a:accent1>
      <a:accent2>
        <a:srgbClr val="FCEDEE"/>
      </a:accent2>
      <a:accent3>
        <a:srgbClr val="16324F"/>
      </a:accent3>
      <a:accent4>
        <a:srgbClr val="12857A"/>
      </a:accent4>
      <a:accent5>
        <a:srgbClr val="D5DCE4"/>
      </a:accent5>
      <a:accent6>
        <a:srgbClr val="E3A72F"/>
      </a:accent6>
      <a:hlink>
        <a:srgbClr val="B2071D"/>
      </a:hlink>
      <a:folHlink>
        <a:srgbClr val="5B6F82"/>
      </a:folHlink>
    </a:clrScheme>
    <a:fontScheme name="Rakathon VZP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2946</TotalTime>
  <Words>1527</Words>
  <Application>Microsoft Macintosh PowerPoint</Application>
  <PresentationFormat>Širokoúhlá obrazovka</PresentationFormat>
  <Paragraphs>276</Paragraphs>
  <Slides>13</Slides>
  <Notes>12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13</vt:i4>
      </vt:variant>
    </vt:vector>
  </HeadingPairs>
  <TitlesOfParts>
    <vt:vector size="16" baseType="lpstr">
      <vt:lpstr>Arial</vt:lpstr>
      <vt:lpstr>Calibri</vt:lpstr>
      <vt:lpstr>Rakathon VZP</vt:lpstr>
      <vt:lpstr>Prezentace aplikace PowerPoint</vt:lpstr>
      <vt:lpstr>Organizace onkologické péče prochází evolucí</vt:lpstr>
      <vt:lpstr>Kdo to je koordinátor a co dělá?</vt:lpstr>
      <vt:lpstr>Koordinátor K1 hlídá čas do léčby</vt:lpstr>
      <vt:lpstr>Problém, který má výzva odstranit</vt:lpstr>
      <vt:lpstr>Co je vaším úkolem?</vt:lpstr>
      <vt:lpstr>Jedno digitální místo pro vstup do KOC</vt:lpstr>
      <vt:lpstr>AI vytvoří strukturovaný handover</vt:lpstr>
      <vt:lpstr>Dashboard koordinátora: pacienti, priority, úkoly</vt:lpstr>
      <vt:lpstr>Digitální plán hlídá posloupnost, komunikaci i čas</vt:lpstr>
      <vt:lpstr>Předání dokumentace referujícímu a reviznímu lékaři</vt:lpstr>
      <vt:lpstr>Výstup: jedna diagnóza a funkční demo</vt:lpstr>
      <vt:lpstr>S čím budete pracovat a kdo vám pomůže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Výzva: Cesta pacienta bez ztráty informací</dc:title>
  <dc:subject>PptxGenJS Presentation</dc:subject>
  <dc:creator>PptxGenJS</dc:creator>
  <cp:lastModifiedBy>Bielčiková Zuzana, doc. MUDr. Ph.D.</cp:lastModifiedBy>
  <cp:revision>8</cp:revision>
  <dcterms:created xsi:type="dcterms:W3CDTF">2026-10-03T20:57:54Z</dcterms:created>
  <dcterms:modified xsi:type="dcterms:W3CDTF">2026-10-16T06:55:12Z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063cd7f-2d21-486a-9f29-9c1683fdd175_Enabled">
    <vt:lpwstr>true</vt:lpwstr>
  </property>
  <property fmtid="{D5CDD505-2E9C-101B-9397-08002B2CF9AE}" pid="3" name="MSIP_Label_2063cd7f-2d21-486a-9f29-9c1683fdd175_SetDate">
    <vt:lpwstr>2026-10-03T21:20:55Z</vt:lpwstr>
  </property>
  <property fmtid="{D5CDD505-2E9C-101B-9397-08002B2CF9AE}" pid="4" name="MSIP_Label_2063cd7f-2d21-486a-9f29-9c1683fdd175_Method">
    <vt:lpwstr>Standard</vt:lpwstr>
  </property>
  <property fmtid="{D5CDD505-2E9C-101B-9397-08002B2CF9AE}" pid="5" name="MSIP_Label_2063cd7f-2d21-486a-9f29-9c1683fdd175_Name">
    <vt:lpwstr>2063cd7f-2d21-486a-9f29-9c1683fdd175</vt:lpwstr>
  </property>
  <property fmtid="{D5CDD505-2E9C-101B-9397-08002B2CF9AE}" pid="6" name="MSIP_Label_2063cd7f-2d21-486a-9f29-9c1683fdd175_SiteId">
    <vt:lpwstr>0f277086-d4e0-4971-bc1a-bbc5df0eb246</vt:lpwstr>
  </property>
  <property fmtid="{D5CDD505-2E9C-101B-9397-08002B2CF9AE}" pid="7" name="MSIP_Label_2063cd7f-2d21-486a-9f29-9c1683fdd175_ActionId">
    <vt:lpwstr>505514bc-6e55-4371-96d5-2287f238b556</vt:lpwstr>
  </property>
  <property fmtid="{D5CDD505-2E9C-101B-9397-08002B2CF9AE}" pid="8" name="MSIP_Label_2063cd7f-2d21-486a-9f29-9c1683fdd175_ContentBits">
    <vt:lpwstr>0</vt:lpwstr>
  </property>
  <property fmtid="{D5CDD505-2E9C-101B-9397-08002B2CF9AE}" pid="9" name="MSIP_Label_2063cd7f-2d21-486a-9f29-9c1683fdd175_Tag">
    <vt:lpwstr>50, 3, 0, 1</vt:lpwstr>
  </property>
</Properties>
</file>